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Krunchr — a compliance engine that takes one of the most anxious chores a Filipino freelancer faces, filing their BIR taxes, and turns it into something that just feels handled. This is v3 of the deck: everything from v2 still stands — the problem, the working product, the demo — but we've added three things investors and the Stellar community will want to see: our impact on the Stellar ecosystem specifically, our plan to integrate existing Stellar building blocks (Anchors, SEP standards, Soroban), and a concrete go-to-market plan from the Philippines outward to APAC and global. I'm [name], and I'll walk through all of it in the next few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pain. A self-employed freelancer in the Philippines on the 8% flat rate isn't filing one form, they're filing up to eight, every year, in a legally-mandated order, each with a different deadline. The rules interact in nasty ways: the 8% election locks for the whole year, mixed-income earners lose a 250,000-peso exemption, and the penalty rates literally changed under new legislation. Get the sequence or a deadline wrong and you owe surcharge, interest, and a compromise penalty, and you carry a mark that banks and embassies will ask about. Once you do file, all you have to prove it is a scanned PDF that anyone could have edited.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one sentence: Krunchr turns eight confusing returns into one upload. You drop in your Form 2307 withholding certificates, and the engine recomputes your entire tax year, every return, in the exact order the BIR requires. Correctness is built into the engine: 8% rules, graduated-rate brackets with an optional 40% standard deduction, RA 11976 penalty rates, holiday-aware due dates, and the mixed-income exemption rule. Each filed return becomes a tamper-evident receipt anchored on Stellar. And the whole package downloads in one 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moment the whole product is built around. Onboarding takes three minutes, then the user uploads Form 2307 certificates. The dashboard lights up: all eight returns compute in sequence, moving from Blocked to Pending to Generated to Filed. Filing one return produces a Stellar transaction ID and a scannable QR code. The punchline: hand your phone to a loan officer, they scan it, and compliance is confirmed in about thirty seconds. Play the recording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shape of it, without the buzzwords. One app, one database, one computation engine. A user uploads income, the engine figures out every return, the server generates the official BIR PDF, and a fingerprint of that PDF is anchored on-chain. We never do money in floating point, every meaningful action is written to an append-only audit log, and failure is graceful: if anchoring hiccups, filing still succeeds and retries later. Today this is hash-only anchoring on testnet — that's exactly what the next two slides build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impact on Stellar specifically, not blockchain in general. Every receipt we anchor is a real compliance event — not a trade, not a speculative transaction. We did a deep ecosystem research pass, saved as GitHub issue #191 in our repo, and found no other shipped Stellar product doing government tax compliance. That's whitespace. The Philippines already has Stellar traction through Coins.ph and MoneyGram's PHP/USDC corridor, so we're building in a market where Stellar rails are already trusted, not starting from zero. And our roadmap takes us from a simple hash-anchor today to genuine on-chain infrastructure — which is exactly the kind of project the Stellar Community Fund's Build Award exists to fund.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specifically how we plug into what Stellar already has. Soroban gives us a real on-chain receipt registry instead of a flat key-value hash, with multi-party attestation so a receipt isn't just self-signed by us. Anchors — SEP-24 and SEP-31 — are how freelancers actually settle: Coins.ph and MoneyGram Access already run PHP and USDC corridors in the Philippines, and we want to sit on top of those rather than build our own. SEP-12 is interesting because our taxpayer profile already collects the exact KYC fields an anchor needs — we could become a KYC source, not just a consumer. And the Stellar DEX with SEP-38 quotes solves a very specific pain: freelancers paid in USD need an auditable, third-party FX rate to convert to pesos for their tax filing, and the DEX can supply that. One caveat we're upfront about: BIR doesn't accept crypto payment or DEX rates as statutory basis today, so all of this is a settlement and evidence layer feeding existing BIR channels, not a replacement for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idea from our research we're most excited about. Instead of just anchoring a hash, we issue the taxpayer a portable Compliance Credential — proof that they filed everything correctly, verifiable by a bank or embassy without exposing the actual return contents. With zero-knowledge selective disclosure, using Stellar's newer BN254 and Poseidon primitives, a freelancer could prove "my declared income is above this threshold" or "I am fully compliant" without revealing exact numbers. And longer term, this credential could carry an actual BIR or RDO attestation on-chain. We searched hard and didn't find another Stellar project doing this for tax compliance — this is where we think the real differentiation and fundability 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Go-to-market starts at home. In the Philippines, we go direct-to-consumer with a freemium model: free tax computation, paid for generation, anchoring, and eventually the compliance credential. We partner with bookkeepers, accountants, and freelancer platforms as channels rather than trying to reach millions of freelancers one at a time. We pilot a real payment-rail partnership — Coins.ph or MoneyGram Access — so settling tax dues doesn't require leaving the app. And we fund the deeper Stellar work, the Soroban registry and the credential, through an SCF Build Award rather than burning runway on it. The output of this stage is a working, trusted proof point we can take to the next two markets.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Philippine engine is proven, APAC expansion is about replication, not reinvention. We look for markets with large freelance economies and similarly simplified flat-tax regimes, and we localize only the computation layer — brackets, forms, deadlines — while the architecture underneath stays the same: the recascade engine, PDF generation, audit trail, and Stellar anchoring. The Stellar receipt is what makes this genuinely cross-border: a freelancer working across two countries can carry one verifiable compliance history instead of two disconnected paper trails. And because Stellar's remittance and anchor network already spans APAC, we're not negotiating new payment rails from scratch in every market.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Long-term, we don't think of Krunchr as just a country-by-country tax app — the durable global asset is the Compliance Credential itself. Any platform with distributed, self-employed workers has the same underlying problem: how do you verify someone is compliant without exposing their full financial history? We can sell that verification to lenders, embassies, and gig platforms globally — a B2B2C model where the verifier pays. At scale, our revenue mix is freemium consumer subscriptions, a small high-margin fee per anchored filing, and credential-verification fees for B2B partners, which is the most defensible line because it depends on the on-chain attestation existing at all. The credibility path is straightforward: fund the Soroban infrastructure through SCF, prove it in the Philippines and APAC, then sell verification globally.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[name], and this is the team — [placeholder]. You can try the app at app.krunchr.xyz, read more on our landing page, or reach us at krunchr@artisam.xyz. All the sourced research behind the Stellar ecosystem and go-to-market sections in this deck is saved as issue #191 on our GitHub repo, if you want to dig into the citations yourself. Thanks to the organizers, the Stellar community, and every Filipino freelancer who told us how filing actually feels. That's Krunchr — eight returns, one upload, one Stellar-native compliance layer. We'd love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pic>
        <p:nvPicPr>
          <p:cNvPr id="2" name="Picture 1" descr="logo-colored-pptx.png"/>
          <p:cNvPicPr>
            <a:picLocks noChangeAspect="1"/>
          </p:cNvPicPr>
          <p:nvPr/>
        </p:nvPicPr>
        <p:blipFill>
          <a:blip r:embed="rId2"/>
          <a:stretch>
            <a:fillRect/>
          </a:stretch>
        </p:blipFill>
        <p:spPr>
          <a:xfrm>
            <a:off x="731520" y="822960"/>
            <a:ext cx="1005840" cy="1005840"/>
          </a:xfrm>
          <a:prstGeom prst="rect">
            <a:avLst/>
          </a:prstGeom>
        </p:spPr>
      </p:pic>
      <p:sp>
        <p:nvSpPr>
          <p:cNvPr id="3" name="TextBox 2"/>
          <p:cNvSpPr txBox="1"/>
          <p:nvPr/>
        </p:nvSpPr>
        <p:spPr>
          <a:xfrm>
            <a:off x="731520" y="2011680"/>
            <a:ext cx="10515600" cy="1097280"/>
          </a:xfrm>
          <a:prstGeom prst="rect">
            <a:avLst/>
          </a:prstGeom>
          <a:noFill/>
        </p:spPr>
        <p:txBody>
          <a:bodyPr wrap="square">
            <a:spAutoFit/>
          </a:bodyPr>
          <a:lstStyle/>
          <a:p>
            <a:pPr algn="l">
              <a:defRPr sz="8000" b="1">
                <a:solidFill>
                  <a:srgbClr val="0B1C30"/>
                </a:solidFill>
                <a:latin typeface="SF Pro Display"/>
              </a:defRPr>
            </a:pPr>
            <a:r>
              <a:t>Krunchr</a:t>
            </a:r>
          </a:p>
        </p:txBody>
      </p:sp>
      <p:sp>
        <p:nvSpPr>
          <p:cNvPr id="4" name="TextBox 3"/>
          <p:cNvSpPr txBox="1"/>
          <p:nvPr/>
        </p:nvSpPr>
        <p:spPr>
          <a:xfrm>
            <a:off x="731520" y="3108960"/>
            <a:ext cx="10058400" cy="548640"/>
          </a:xfrm>
          <a:prstGeom prst="rect">
            <a:avLst/>
          </a:prstGeom>
          <a:noFill/>
        </p:spPr>
        <p:txBody>
          <a:bodyPr wrap="square">
            <a:spAutoFit/>
          </a:bodyPr>
          <a:lstStyle/>
          <a:p>
            <a:pPr algn="l">
              <a:defRPr sz="3000" b="0">
                <a:solidFill>
                  <a:srgbClr val="45464D"/>
                </a:solidFill>
                <a:latin typeface="SF Pro Display"/>
              </a:defRPr>
            </a:pPr>
            <a:r>
              <a:t>Compliance Engine — Philippine tax filing, anchored on Stellar.</a:t>
            </a:r>
          </a:p>
        </p:txBody>
      </p:sp>
      <p:sp>
        <p:nvSpPr>
          <p:cNvPr id="5" name="TextBox 4"/>
          <p:cNvSpPr txBox="1"/>
          <p:nvPr/>
        </p:nvSpPr>
        <p:spPr>
          <a:xfrm>
            <a:off x="731520" y="3794760"/>
            <a:ext cx="10058400" cy="457200"/>
          </a:xfrm>
          <a:prstGeom prst="rect">
            <a:avLst/>
          </a:prstGeom>
          <a:noFill/>
        </p:spPr>
        <p:txBody>
          <a:bodyPr wrap="square">
            <a:spAutoFit/>
          </a:bodyPr>
          <a:lstStyle/>
          <a:p>
            <a:pPr algn="l">
              <a:defRPr sz="2400" b="1">
                <a:solidFill>
                  <a:srgbClr val="006A61"/>
                </a:solidFill>
                <a:latin typeface="SF Pro Display"/>
              </a:defRPr>
            </a:pPr>
            <a:r>
              <a:t>v3: from hackathon demo to a Stellar-native compliance business.</a:t>
            </a:r>
          </a:p>
        </p:txBody>
      </p:sp>
      <p:sp>
        <p:nvSpPr>
          <p:cNvPr id="6" name="TextBox 5"/>
          <p:cNvSpPr txBox="1"/>
          <p:nvPr/>
        </p:nvSpPr>
        <p:spPr>
          <a:xfrm>
            <a:off x="731520" y="5303520"/>
            <a:ext cx="10515600" cy="365760"/>
          </a:xfrm>
          <a:prstGeom prst="rect">
            <a:avLst/>
          </a:prstGeom>
          <a:noFill/>
        </p:spPr>
        <p:txBody>
          <a:bodyPr wrap="square">
            <a:spAutoFit/>
          </a:bodyPr>
          <a:lstStyle/>
          <a:p>
            <a:pPr algn="l">
              <a:defRPr sz="1600" b="1">
                <a:solidFill>
                  <a:srgbClr val="006A61"/>
                </a:solidFill>
                <a:latin typeface="SF Pro Display"/>
              </a:defRPr>
            </a:pPr>
            <a:r>
              <a:t>APAC Stellar Hackathon 2026 · Local Finance &amp; Real World Access</a:t>
            </a:r>
          </a:p>
        </p:txBody>
      </p:sp>
      <p:sp>
        <p:nvSpPr>
          <p:cNvPr id="7" name="TextBox 6"/>
          <p:cNvSpPr txBox="1"/>
          <p:nvPr/>
        </p:nvSpPr>
        <p:spPr>
          <a:xfrm>
            <a:off x="731520" y="5669280"/>
            <a:ext cx="10515600" cy="274320"/>
          </a:xfrm>
          <a:prstGeom prst="rect">
            <a:avLst/>
          </a:prstGeom>
          <a:noFill/>
        </p:spPr>
        <p:txBody>
          <a:bodyPr wrap="square">
            <a:spAutoFit/>
          </a:bodyPr>
          <a:lstStyle/>
          <a:p>
            <a:pPr algn="l">
              <a:defRPr sz="1500" b="0">
                <a:solidFill>
                  <a:srgbClr val="45464D"/>
                </a:solidFill>
                <a:latin typeface="SF Pro Display"/>
              </a:defRPr>
            </a:pPr>
            <a:r>
              <a:t>Team: [PLACEHOLDER]    Contact: krunchr@artisam.xyz</a:t>
            </a:r>
          </a:p>
        </p:txBody>
      </p:sp>
      <p:sp>
        <p:nvSpPr>
          <p:cNvPr id="8" name="Rectangle 7"/>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10" name="TextBox 9"/>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11" name="TextBox 10"/>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THE PROBLEM</a:t>
            </a:r>
          </a:p>
        </p:txBody>
      </p:sp>
      <p:sp>
        <p:nvSpPr>
          <p:cNvPr id="3" name="TextBox 2"/>
          <p:cNvSpPr txBox="1"/>
          <p:nvPr/>
        </p:nvSpPr>
        <p:spPr>
          <a:xfrm>
            <a:off x="731520" y="914400"/>
            <a:ext cx="10058400" cy="822960"/>
          </a:xfrm>
          <a:prstGeom prst="rect">
            <a:avLst/>
          </a:prstGeom>
          <a:noFill/>
        </p:spPr>
        <p:txBody>
          <a:bodyPr wrap="square">
            <a:spAutoFit/>
          </a:bodyPr>
          <a:lstStyle/>
          <a:p>
            <a:pPr algn="l">
              <a:defRPr sz="4400" b="1">
                <a:solidFill>
                  <a:srgbClr val="0B1C30"/>
                </a:solidFill>
                <a:latin typeface="SF Pro Display"/>
              </a:defRPr>
            </a:pPr>
            <a:r>
              <a:t>Eight returns a year. One mistake costs money, time, and trust.</a:t>
            </a:r>
          </a:p>
        </p:txBody>
      </p:sp>
      <p:sp>
        <p:nvSpPr>
          <p:cNvPr id="4" name="TextBox 3"/>
          <p:cNvSpPr txBox="1"/>
          <p:nvPr/>
        </p:nvSpPr>
        <p:spPr>
          <a:xfrm>
            <a:off x="731520" y="1920240"/>
            <a:ext cx="10332720" cy="4206240"/>
          </a:xfrm>
          <a:prstGeom prst="rect">
            <a:avLst/>
          </a:prstGeom>
          <a:noFill/>
        </p:spPr>
        <p:txBody>
          <a:bodyPr wrap="square">
            <a:spAutoFit/>
          </a:bodyPr>
          <a:lstStyle/>
          <a:p>
            <a:pPr>
              <a:buChar char="•"/>
              <a:spcAft>
                <a:spcPts val="1400"/>
              </a:spcAft>
              <a:defRPr sz="2000">
                <a:solidFill>
                  <a:srgbClr val="0B1C30"/>
                </a:solidFill>
                <a:latin typeface="SF Pro Text"/>
              </a:defRPr>
            </a:pPr>
            <a:r>
              <a:t>A freelancer on the 8% flat rate owes up to 8 BIR returns a year — 2551Q ×4, 1701Q ×3, 1701A — in strict legal order.</a:t>
            </a:r>
          </a:p>
          <a:p>
            <a:pPr>
              <a:buChar char="•"/>
              <a:spcAft>
                <a:spcPts val="1400"/>
              </a:spcAft>
              <a:defRPr sz="2000">
                <a:solidFill>
                  <a:srgbClr val="0B1C30"/>
                </a:solidFill>
                <a:latin typeface="SF Pro Text"/>
              </a:defRPr>
            </a:pPr>
            <a:r>
              <a:t>The rules interact badly: the 8% election is irrevocable; mixed-income earners lose the ₱250,000 exemption; penalties changed under RA 11976; due dates roll past Philippine holidays.</a:t>
            </a:r>
          </a:p>
          <a:p>
            <a:pPr>
              <a:buChar char="•"/>
              <a:spcAft>
                <a:spcPts val="1400"/>
              </a:spcAft>
              <a:defRPr sz="2000">
                <a:solidFill>
                  <a:srgbClr val="0B1C30"/>
                </a:solidFill>
                <a:latin typeface="SF Pro Text"/>
              </a:defRPr>
            </a:pPr>
            <a:r>
              <a:t>One wrong sequence or missed deadline → surcharge, daily interest, compromise penalties, and a black mark banks and embassies ask about.</a:t>
            </a:r>
          </a:p>
          <a:p>
            <a:pPr>
              <a:buChar char="•"/>
              <a:spcAft>
                <a:spcPts val="1400"/>
              </a:spcAft>
              <a:defRPr sz="2000">
                <a:solidFill>
                  <a:srgbClr val="0B1C30"/>
                </a:solidFill>
                <a:latin typeface="SF Pro Text"/>
              </a:defRPr>
            </a:pPr>
            <a:r>
              <a:t>Once filed, all a freelancer has is a scanned PDF — no quick, trustworthy way for a third party to verify it.</a:t>
            </a:r>
          </a:p>
        </p:txBody>
      </p:sp>
      <p:sp>
        <p:nvSpPr>
          <p:cNvPr id="5" name="Rectangle 4"/>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7" name="TextBox 6"/>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8" name="TextBox 7"/>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THE SOLUTION</a:t>
            </a:r>
          </a:p>
        </p:txBody>
      </p:sp>
      <p:sp>
        <p:nvSpPr>
          <p:cNvPr id="3" name="TextBox 2"/>
          <p:cNvSpPr txBox="1"/>
          <p:nvPr/>
        </p:nvSpPr>
        <p:spPr>
          <a:xfrm>
            <a:off x="731520" y="914400"/>
            <a:ext cx="10058400" cy="822960"/>
          </a:xfrm>
          <a:prstGeom prst="rect">
            <a:avLst/>
          </a:prstGeom>
          <a:noFill/>
        </p:spPr>
        <p:txBody>
          <a:bodyPr wrap="square">
            <a:spAutoFit/>
          </a:bodyPr>
          <a:lstStyle/>
          <a:p>
            <a:pPr algn="l">
              <a:defRPr sz="4400" b="1">
                <a:solidFill>
                  <a:srgbClr val="0B1C30"/>
                </a:solidFill>
                <a:latin typeface="SF Pro Display"/>
              </a:defRPr>
            </a:pPr>
            <a:r>
              <a:t>Krunchr turns eight confusing returns into one upload.</a:t>
            </a:r>
          </a:p>
        </p:txBody>
      </p:sp>
      <p:sp>
        <p:nvSpPr>
          <p:cNvPr id="4" name="Rounded Rectangle 3"/>
          <p:cNvSpPr/>
          <p:nvPr/>
        </p:nvSpPr>
        <p:spPr>
          <a:xfrm>
            <a:off x="731520" y="2011680"/>
            <a:ext cx="2468880" cy="356616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86000"/>
            <a:ext cx="411480" cy="320040"/>
          </a:xfrm>
          <a:prstGeom prst="rect">
            <a:avLst/>
          </a:prstGeom>
          <a:noFill/>
        </p:spPr>
        <p:txBody>
          <a:bodyPr wrap="square">
            <a:spAutoFit/>
          </a:bodyPr>
          <a:lstStyle/>
          <a:p>
            <a:pPr algn="ctr">
              <a:defRPr sz="1800" b="1">
                <a:solidFill>
                  <a:srgbClr val="FFFFFF"/>
                </a:solidFill>
                <a:latin typeface="SF Pro Display"/>
              </a:defRPr>
            </a:pPr>
            <a:r>
              <a:t>1</a:t>
            </a:r>
          </a:p>
        </p:txBody>
      </p:sp>
      <p:sp>
        <p:nvSpPr>
          <p:cNvPr id="7" name="TextBox 6"/>
          <p:cNvSpPr txBox="1"/>
          <p:nvPr/>
        </p:nvSpPr>
        <p:spPr>
          <a:xfrm>
            <a:off x="1463040" y="2240280"/>
            <a:ext cx="1508760" cy="365760"/>
          </a:xfrm>
          <a:prstGeom prst="rect">
            <a:avLst/>
          </a:prstGeom>
          <a:noFill/>
        </p:spPr>
        <p:txBody>
          <a:bodyPr wrap="square">
            <a:spAutoFit/>
          </a:bodyPr>
          <a:lstStyle/>
          <a:p>
            <a:pPr algn="l">
              <a:defRPr sz="2000" b="1">
                <a:solidFill>
                  <a:srgbClr val="0B1C30"/>
                </a:solidFill>
                <a:latin typeface="SF Pro Display"/>
              </a:defRPr>
            </a:pPr>
            <a:r>
              <a:t>Upload Form 2307s</a:t>
            </a:r>
          </a:p>
        </p:txBody>
      </p:sp>
      <p:sp>
        <p:nvSpPr>
          <p:cNvPr id="8" name="TextBox 7"/>
          <p:cNvSpPr txBox="1"/>
          <p:nvPr/>
        </p:nvSpPr>
        <p:spPr>
          <a:xfrm>
            <a:off x="960120" y="2697480"/>
            <a:ext cx="2011680" cy="2651760"/>
          </a:xfrm>
          <a:prstGeom prst="rect">
            <a:avLst/>
          </a:prstGeom>
          <a:noFill/>
        </p:spPr>
        <p:txBody>
          <a:bodyPr wrap="square">
            <a:spAutoFit/>
          </a:bodyPr>
          <a:lstStyle/>
          <a:p>
            <a:pPr algn="l">
              <a:defRPr sz="1400" b="0">
                <a:solidFill>
                  <a:srgbClr val="45464D"/>
                </a:solidFill>
                <a:latin typeface="SF Pro Display"/>
              </a:defRPr>
            </a:pPr>
            <a:r>
              <a:t>Drop in withholding certificates. The engine recomputes your entire tax year, every return, in the correct legal sequence.</a:t>
            </a:r>
          </a:p>
        </p:txBody>
      </p:sp>
      <p:sp>
        <p:nvSpPr>
          <p:cNvPr id="9" name="Rounded Rectangle 8"/>
          <p:cNvSpPr/>
          <p:nvPr/>
        </p:nvSpPr>
        <p:spPr>
          <a:xfrm>
            <a:off x="3291840" y="2011680"/>
            <a:ext cx="2468880" cy="356616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20440"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2286000"/>
            <a:ext cx="411480" cy="320040"/>
          </a:xfrm>
          <a:prstGeom prst="rect">
            <a:avLst/>
          </a:prstGeom>
          <a:noFill/>
        </p:spPr>
        <p:txBody>
          <a:bodyPr wrap="square">
            <a:spAutoFit/>
          </a:bodyPr>
          <a:lstStyle/>
          <a:p>
            <a:pPr algn="ctr">
              <a:defRPr sz="1800" b="1">
                <a:solidFill>
                  <a:srgbClr val="FFFFFF"/>
                </a:solidFill>
                <a:latin typeface="SF Pro Display"/>
              </a:defRPr>
            </a:pPr>
            <a:r>
              <a:t>2</a:t>
            </a:r>
          </a:p>
        </p:txBody>
      </p:sp>
      <p:sp>
        <p:nvSpPr>
          <p:cNvPr id="12" name="TextBox 11"/>
          <p:cNvSpPr txBox="1"/>
          <p:nvPr/>
        </p:nvSpPr>
        <p:spPr>
          <a:xfrm>
            <a:off x="4023360" y="2240280"/>
            <a:ext cx="1508760" cy="365760"/>
          </a:xfrm>
          <a:prstGeom prst="rect">
            <a:avLst/>
          </a:prstGeom>
          <a:noFill/>
        </p:spPr>
        <p:txBody>
          <a:bodyPr wrap="square">
            <a:spAutoFit/>
          </a:bodyPr>
          <a:lstStyle/>
          <a:p>
            <a:pPr algn="l">
              <a:defRPr sz="2000" b="1">
                <a:solidFill>
                  <a:srgbClr val="0B1C30"/>
                </a:solidFill>
                <a:latin typeface="SF Pro Display"/>
              </a:defRPr>
            </a:pPr>
            <a:r>
              <a:t>Correct by Construction</a:t>
            </a:r>
          </a:p>
        </p:txBody>
      </p:sp>
      <p:sp>
        <p:nvSpPr>
          <p:cNvPr id="13" name="TextBox 12"/>
          <p:cNvSpPr txBox="1"/>
          <p:nvPr/>
        </p:nvSpPr>
        <p:spPr>
          <a:xfrm>
            <a:off x="3520440" y="2697480"/>
            <a:ext cx="2011680" cy="2651760"/>
          </a:xfrm>
          <a:prstGeom prst="rect">
            <a:avLst/>
          </a:prstGeom>
          <a:noFill/>
        </p:spPr>
        <p:txBody>
          <a:bodyPr wrap="square">
            <a:spAutoFit/>
          </a:bodyPr>
          <a:lstStyle/>
          <a:p>
            <a:pPr algn="l">
              <a:defRPr sz="1400" b="0">
                <a:solidFill>
                  <a:srgbClr val="45464D"/>
                </a:solidFill>
                <a:latin typeface="SF Pro Display"/>
              </a:defRPr>
            </a:pPr>
            <a:r>
              <a:t>8%, graduated-rate + OSD, RA 11976 penalty rates, holiday-aware due dates, and mixed-income exemption rules are enforced in code.</a:t>
            </a:r>
          </a:p>
        </p:txBody>
      </p:sp>
      <p:sp>
        <p:nvSpPr>
          <p:cNvPr id="14" name="Rounded Rectangle 13"/>
          <p:cNvSpPr/>
          <p:nvPr/>
        </p:nvSpPr>
        <p:spPr>
          <a:xfrm>
            <a:off x="5852160" y="2011680"/>
            <a:ext cx="2468880" cy="356616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080760"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80760" y="2286000"/>
            <a:ext cx="411480" cy="320040"/>
          </a:xfrm>
          <a:prstGeom prst="rect">
            <a:avLst/>
          </a:prstGeom>
          <a:noFill/>
        </p:spPr>
        <p:txBody>
          <a:bodyPr wrap="square">
            <a:spAutoFit/>
          </a:bodyPr>
          <a:lstStyle/>
          <a:p>
            <a:pPr algn="ctr">
              <a:defRPr sz="1800" b="1">
                <a:solidFill>
                  <a:srgbClr val="FFFFFF"/>
                </a:solidFill>
                <a:latin typeface="SF Pro Display"/>
              </a:defRPr>
            </a:pPr>
            <a:r>
              <a:t>3</a:t>
            </a:r>
          </a:p>
        </p:txBody>
      </p:sp>
      <p:sp>
        <p:nvSpPr>
          <p:cNvPr id="17" name="TextBox 16"/>
          <p:cNvSpPr txBox="1"/>
          <p:nvPr/>
        </p:nvSpPr>
        <p:spPr>
          <a:xfrm>
            <a:off x="6583680" y="2240280"/>
            <a:ext cx="1508760" cy="365760"/>
          </a:xfrm>
          <a:prstGeom prst="rect">
            <a:avLst/>
          </a:prstGeom>
          <a:noFill/>
        </p:spPr>
        <p:txBody>
          <a:bodyPr wrap="square">
            <a:spAutoFit/>
          </a:bodyPr>
          <a:lstStyle/>
          <a:p>
            <a:pPr algn="l">
              <a:defRPr sz="2000" b="1">
                <a:solidFill>
                  <a:srgbClr val="0B1C30"/>
                </a:solidFill>
                <a:latin typeface="SF Pro Display"/>
              </a:defRPr>
            </a:pPr>
            <a:r>
              <a:t>Tamper-Evident Receipt</a:t>
            </a:r>
          </a:p>
        </p:txBody>
      </p:sp>
      <p:sp>
        <p:nvSpPr>
          <p:cNvPr id="18" name="TextBox 17"/>
          <p:cNvSpPr txBox="1"/>
          <p:nvPr/>
        </p:nvSpPr>
        <p:spPr>
          <a:xfrm>
            <a:off x="6080760" y="2697480"/>
            <a:ext cx="2011680" cy="2651760"/>
          </a:xfrm>
          <a:prstGeom prst="rect">
            <a:avLst/>
          </a:prstGeom>
          <a:noFill/>
        </p:spPr>
        <p:txBody>
          <a:bodyPr wrap="square">
            <a:spAutoFit/>
          </a:bodyPr>
          <a:lstStyle/>
          <a:p>
            <a:pPr algn="l">
              <a:defRPr sz="1400" b="0">
                <a:solidFill>
                  <a:srgbClr val="45464D"/>
                </a:solidFill>
                <a:latin typeface="SF Pro Display"/>
              </a:defRPr>
            </a:pPr>
            <a:r>
              <a:t>Every filed return is anchored on Stellar. Banks, embassies, or auditors can verify it in seconds, not trust a PDF.</a:t>
            </a:r>
          </a:p>
        </p:txBody>
      </p:sp>
      <p:sp>
        <p:nvSpPr>
          <p:cNvPr id="19" name="Rounded Rectangle 18"/>
          <p:cNvSpPr/>
          <p:nvPr/>
        </p:nvSpPr>
        <p:spPr>
          <a:xfrm>
            <a:off x="8412480" y="2011680"/>
            <a:ext cx="2468880" cy="356616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41080"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1080" y="2286000"/>
            <a:ext cx="411480" cy="320040"/>
          </a:xfrm>
          <a:prstGeom prst="rect">
            <a:avLst/>
          </a:prstGeom>
          <a:noFill/>
        </p:spPr>
        <p:txBody>
          <a:bodyPr wrap="square">
            <a:spAutoFit/>
          </a:bodyPr>
          <a:lstStyle/>
          <a:p>
            <a:pPr algn="ctr">
              <a:defRPr sz="1800" b="1">
                <a:solidFill>
                  <a:srgbClr val="FFFFFF"/>
                </a:solidFill>
                <a:latin typeface="SF Pro Display"/>
              </a:defRPr>
            </a:pPr>
            <a:r>
              <a:t>4</a:t>
            </a:r>
          </a:p>
        </p:txBody>
      </p:sp>
      <p:sp>
        <p:nvSpPr>
          <p:cNvPr id="22" name="TextBox 21"/>
          <p:cNvSpPr txBox="1"/>
          <p:nvPr/>
        </p:nvSpPr>
        <p:spPr>
          <a:xfrm>
            <a:off x="9144000" y="2240280"/>
            <a:ext cx="1508760" cy="365760"/>
          </a:xfrm>
          <a:prstGeom prst="rect">
            <a:avLst/>
          </a:prstGeom>
          <a:noFill/>
        </p:spPr>
        <p:txBody>
          <a:bodyPr wrap="square">
            <a:spAutoFit/>
          </a:bodyPr>
          <a:lstStyle/>
          <a:p>
            <a:pPr algn="l">
              <a:defRPr sz="2000" b="1">
                <a:solidFill>
                  <a:srgbClr val="0B1C30"/>
                </a:solidFill>
                <a:latin typeface="SF Pro Display"/>
              </a:defRPr>
            </a:pPr>
            <a:r>
              <a:t>One-Click Filing Package</a:t>
            </a:r>
          </a:p>
        </p:txBody>
      </p:sp>
      <p:sp>
        <p:nvSpPr>
          <p:cNvPr id="23" name="TextBox 22"/>
          <p:cNvSpPr txBox="1"/>
          <p:nvPr/>
        </p:nvSpPr>
        <p:spPr>
          <a:xfrm>
            <a:off x="8641080" y="2697480"/>
            <a:ext cx="2011680" cy="2651760"/>
          </a:xfrm>
          <a:prstGeom prst="rect">
            <a:avLst/>
          </a:prstGeom>
          <a:noFill/>
        </p:spPr>
        <p:txBody>
          <a:bodyPr wrap="square">
            <a:spAutoFit/>
          </a:bodyPr>
          <a:lstStyle/>
          <a:p>
            <a:pPr algn="l">
              <a:defRPr sz="1400" b="0">
                <a:solidFill>
                  <a:srgbClr val="45464D"/>
                </a:solidFill>
                <a:latin typeface="SF Pro Display"/>
              </a:defRPr>
            </a:pPr>
            <a:r>
              <a:t>All return PDFs, the SAWT summary, and a cover sheet — bundled and ready to download.</a:t>
            </a:r>
          </a:p>
        </p:txBody>
      </p:sp>
      <p:sp>
        <p:nvSpPr>
          <p:cNvPr id="24" name="Rectangle 23"/>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26" name="TextBox 25"/>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27" name="TextBox 26"/>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LIVE DEMO</a:t>
            </a:r>
          </a:p>
        </p:txBody>
      </p:sp>
      <p:sp>
        <p:nvSpPr>
          <p:cNvPr id="3" name="TextBox 2"/>
          <p:cNvSpPr txBox="1"/>
          <p:nvPr/>
        </p:nvSpPr>
        <p:spPr>
          <a:xfrm>
            <a:off x="731520" y="914400"/>
            <a:ext cx="10058400" cy="548640"/>
          </a:xfrm>
          <a:prstGeom prst="rect">
            <a:avLst/>
          </a:prstGeom>
          <a:noFill/>
        </p:spPr>
        <p:txBody>
          <a:bodyPr wrap="square">
            <a:spAutoFit/>
          </a:bodyPr>
          <a:lstStyle/>
          <a:p>
            <a:pPr algn="l">
              <a:defRPr sz="4400" b="1">
                <a:solidFill>
                  <a:srgbClr val="0B1C30"/>
                </a:solidFill>
                <a:latin typeface="SF Pro Display"/>
              </a:defRPr>
            </a:pPr>
            <a:r>
              <a:t>The single demo moment</a:t>
            </a:r>
          </a:p>
        </p:txBody>
      </p:sp>
      <p:sp>
        <p:nvSpPr>
          <p:cNvPr id="4" name="TextBox 3"/>
          <p:cNvSpPr txBox="1"/>
          <p:nvPr/>
        </p:nvSpPr>
        <p:spPr>
          <a:xfrm>
            <a:off x="731520" y="1463040"/>
            <a:ext cx="10058400" cy="365760"/>
          </a:xfrm>
          <a:prstGeom prst="rect">
            <a:avLst/>
          </a:prstGeom>
          <a:noFill/>
        </p:spPr>
        <p:txBody>
          <a:bodyPr wrap="square">
            <a:spAutoFit/>
          </a:bodyPr>
          <a:lstStyle/>
          <a:p>
            <a:pPr algn="l">
              <a:defRPr sz="2200" b="0">
                <a:solidFill>
                  <a:srgbClr val="45464D"/>
                </a:solidFill>
                <a:latin typeface="SF Pro Display"/>
              </a:defRPr>
            </a:pPr>
            <a:r>
              <a:t>From onboarding to verified compliance in about 30 seconds.</a:t>
            </a:r>
          </a:p>
        </p:txBody>
      </p:sp>
      <p:sp>
        <p:nvSpPr>
          <p:cNvPr id="5" name="Rounded Rectangle 4"/>
          <p:cNvSpPr/>
          <p:nvPr/>
        </p:nvSpPr>
        <p:spPr>
          <a:xfrm>
            <a:off x="731520" y="2011680"/>
            <a:ext cx="2011680" cy="23774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86000"/>
            <a:ext cx="411480" cy="320040"/>
          </a:xfrm>
          <a:prstGeom prst="rect">
            <a:avLst/>
          </a:prstGeom>
          <a:noFill/>
        </p:spPr>
        <p:txBody>
          <a:bodyPr wrap="square">
            <a:spAutoFit/>
          </a:bodyPr>
          <a:lstStyle/>
          <a:p>
            <a:pPr algn="ctr">
              <a:defRPr sz="1800" b="1">
                <a:solidFill>
                  <a:srgbClr val="FFFFFF"/>
                </a:solidFill>
                <a:latin typeface="SF Pro Display"/>
              </a:defRPr>
            </a:pPr>
            <a:r>
              <a:t>1</a:t>
            </a:r>
          </a:p>
        </p:txBody>
      </p:sp>
      <p:sp>
        <p:nvSpPr>
          <p:cNvPr id="8" name="TextBox 7"/>
          <p:cNvSpPr txBox="1"/>
          <p:nvPr/>
        </p:nvSpPr>
        <p:spPr>
          <a:xfrm>
            <a:off x="1463040" y="2240280"/>
            <a:ext cx="1051560" cy="365760"/>
          </a:xfrm>
          <a:prstGeom prst="rect">
            <a:avLst/>
          </a:prstGeom>
          <a:noFill/>
        </p:spPr>
        <p:txBody>
          <a:bodyPr wrap="square">
            <a:spAutoFit/>
          </a:bodyPr>
          <a:lstStyle/>
          <a:p>
            <a:pPr algn="l">
              <a:defRPr sz="2000" b="1">
                <a:solidFill>
                  <a:srgbClr val="0B1C30"/>
                </a:solidFill>
                <a:latin typeface="SF Pro Display"/>
              </a:defRPr>
            </a:pPr>
            <a:r>
              <a:t>Onboard</a:t>
            </a:r>
          </a:p>
        </p:txBody>
      </p:sp>
      <p:sp>
        <p:nvSpPr>
          <p:cNvPr id="9" name="TextBox 8"/>
          <p:cNvSpPr txBox="1"/>
          <p:nvPr/>
        </p:nvSpPr>
        <p:spPr>
          <a:xfrm>
            <a:off x="960120" y="2697480"/>
            <a:ext cx="1554480" cy="1463040"/>
          </a:xfrm>
          <a:prstGeom prst="rect">
            <a:avLst/>
          </a:prstGeom>
          <a:noFill/>
        </p:spPr>
        <p:txBody>
          <a:bodyPr wrap="square">
            <a:spAutoFit/>
          </a:bodyPr>
          <a:lstStyle/>
          <a:p>
            <a:pPr algn="l">
              <a:defRPr sz="1400" b="0">
                <a:solidFill>
                  <a:srgbClr val="45464D"/>
                </a:solidFill>
                <a:latin typeface="SF Pro Display"/>
              </a:defRPr>
            </a:pPr>
            <a:r>
              <a:t>3-minute setup: TIN, RDO, tax codes.</a:t>
            </a:r>
          </a:p>
        </p:txBody>
      </p:sp>
      <p:sp>
        <p:nvSpPr>
          <p:cNvPr id="10" name="Rounded Rectangle 9"/>
          <p:cNvSpPr/>
          <p:nvPr/>
        </p:nvSpPr>
        <p:spPr>
          <a:xfrm>
            <a:off x="2944368" y="2011680"/>
            <a:ext cx="2011680" cy="23774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172968"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72968" y="2286000"/>
            <a:ext cx="411480" cy="320040"/>
          </a:xfrm>
          <a:prstGeom prst="rect">
            <a:avLst/>
          </a:prstGeom>
          <a:noFill/>
        </p:spPr>
        <p:txBody>
          <a:bodyPr wrap="square">
            <a:spAutoFit/>
          </a:bodyPr>
          <a:lstStyle/>
          <a:p>
            <a:pPr algn="ctr">
              <a:defRPr sz="1800" b="1">
                <a:solidFill>
                  <a:srgbClr val="FFFFFF"/>
                </a:solidFill>
                <a:latin typeface="SF Pro Display"/>
              </a:defRPr>
            </a:pPr>
            <a:r>
              <a:t>2</a:t>
            </a:r>
          </a:p>
        </p:txBody>
      </p:sp>
      <p:sp>
        <p:nvSpPr>
          <p:cNvPr id="13" name="TextBox 12"/>
          <p:cNvSpPr txBox="1"/>
          <p:nvPr/>
        </p:nvSpPr>
        <p:spPr>
          <a:xfrm>
            <a:off x="3675888" y="2240280"/>
            <a:ext cx="1051560" cy="365760"/>
          </a:xfrm>
          <a:prstGeom prst="rect">
            <a:avLst/>
          </a:prstGeom>
          <a:noFill/>
        </p:spPr>
        <p:txBody>
          <a:bodyPr wrap="square">
            <a:spAutoFit/>
          </a:bodyPr>
          <a:lstStyle/>
          <a:p>
            <a:pPr algn="l">
              <a:defRPr sz="2000" b="1">
                <a:solidFill>
                  <a:srgbClr val="0B1C30"/>
                </a:solidFill>
                <a:latin typeface="SF Pro Display"/>
              </a:defRPr>
            </a:pPr>
            <a:r>
              <a:t>Upload 2307s</a:t>
            </a:r>
          </a:p>
        </p:txBody>
      </p:sp>
      <p:sp>
        <p:nvSpPr>
          <p:cNvPr id="14" name="TextBox 13"/>
          <p:cNvSpPr txBox="1"/>
          <p:nvPr/>
        </p:nvSpPr>
        <p:spPr>
          <a:xfrm>
            <a:off x="3172968" y="2697480"/>
            <a:ext cx="1554480" cy="1463040"/>
          </a:xfrm>
          <a:prstGeom prst="rect">
            <a:avLst/>
          </a:prstGeom>
          <a:noFill/>
        </p:spPr>
        <p:txBody>
          <a:bodyPr wrap="square">
            <a:spAutoFit/>
          </a:bodyPr>
          <a:lstStyle/>
          <a:p>
            <a:pPr algn="l">
              <a:defRPr sz="1400" b="0">
                <a:solidFill>
                  <a:srgbClr val="45464D"/>
                </a:solidFill>
                <a:latin typeface="SF Pro Display"/>
              </a:defRPr>
            </a:pPr>
            <a:r>
              <a:t>Withholding certificates land in the dashboard.</a:t>
            </a:r>
          </a:p>
        </p:txBody>
      </p:sp>
      <p:sp>
        <p:nvSpPr>
          <p:cNvPr id="15" name="Rounded Rectangle 14"/>
          <p:cNvSpPr/>
          <p:nvPr/>
        </p:nvSpPr>
        <p:spPr>
          <a:xfrm>
            <a:off x="5157216" y="2011680"/>
            <a:ext cx="2011680" cy="23774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385816"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85816" y="2286000"/>
            <a:ext cx="411480" cy="320040"/>
          </a:xfrm>
          <a:prstGeom prst="rect">
            <a:avLst/>
          </a:prstGeom>
          <a:noFill/>
        </p:spPr>
        <p:txBody>
          <a:bodyPr wrap="square">
            <a:spAutoFit/>
          </a:bodyPr>
          <a:lstStyle/>
          <a:p>
            <a:pPr algn="ctr">
              <a:defRPr sz="1800" b="1">
                <a:solidFill>
                  <a:srgbClr val="FFFFFF"/>
                </a:solidFill>
                <a:latin typeface="SF Pro Display"/>
              </a:defRPr>
            </a:pPr>
            <a:r>
              <a:t>3</a:t>
            </a:r>
          </a:p>
        </p:txBody>
      </p:sp>
      <p:sp>
        <p:nvSpPr>
          <p:cNvPr id="18" name="TextBox 17"/>
          <p:cNvSpPr txBox="1"/>
          <p:nvPr/>
        </p:nvSpPr>
        <p:spPr>
          <a:xfrm>
            <a:off x="5888736" y="2240280"/>
            <a:ext cx="1051560" cy="365760"/>
          </a:xfrm>
          <a:prstGeom prst="rect">
            <a:avLst/>
          </a:prstGeom>
          <a:noFill/>
        </p:spPr>
        <p:txBody>
          <a:bodyPr wrap="square">
            <a:spAutoFit/>
          </a:bodyPr>
          <a:lstStyle/>
          <a:p>
            <a:pPr algn="l">
              <a:defRPr sz="2000" b="1">
                <a:solidFill>
                  <a:srgbClr val="0B1C30"/>
                </a:solidFill>
                <a:latin typeface="SF Pro Display"/>
              </a:defRPr>
            </a:pPr>
            <a:r>
              <a:t>Returns Compute</a:t>
            </a:r>
          </a:p>
        </p:txBody>
      </p:sp>
      <p:sp>
        <p:nvSpPr>
          <p:cNvPr id="19" name="TextBox 18"/>
          <p:cNvSpPr txBox="1"/>
          <p:nvPr/>
        </p:nvSpPr>
        <p:spPr>
          <a:xfrm>
            <a:off x="5385816" y="2697480"/>
            <a:ext cx="1554480" cy="1463040"/>
          </a:xfrm>
          <a:prstGeom prst="rect">
            <a:avLst/>
          </a:prstGeom>
          <a:noFill/>
        </p:spPr>
        <p:txBody>
          <a:bodyPr wrap="square">
            <a:spAutoFit/>
          </a:bodyPr>
          <a:lstStyle/>
          <a:p>
            <a:pPr algn="l">
              <a:defRPr sz="1400" b="0">
                <a:solidFill>
                  <a:srgbClr val="45464D"/>
                </a:solidFill>
                <a:latin typeface="SF Pro Display"/>
              </a:defRPr>
            </a:pPr>
            <a:r>
              <a:t>All 8 returns run in sequence: Blocked → Pending → Generated → Filed.</a:t>
            </a:r>
          </a:p>
        </p:txBody>
      </p:sp>
      <p:sp>
        <p:nvSpPr>
          <p:cNvPr id="20" name="Rounded Rectangle 19"/>
          <p:cNvSpPr/>
          <p:nvPr/>
        </p:nvSpPr>
        <p:spPr>
          <a:xfrm>
            <a:off x="7370064" y="2011680"/>
            <a:ext cx="2011680" cy="23774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598664"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98664" y="2286000"/>
            <a:ext cx="411480" cy="320040"/>
          </a:xfrm>
          <a:prstGeom prst="rect">
            <a:avLst/>
          </a:prstGeom>
          <a:noFill/>
        </p:spPr>
        <p:txBody>
          <a:bodyPr wrap="square">
            <a:spAutoFit/>
          </a:bodyPr>
          <a:lstStyle/>
          <a:p>
            <a:pPr algn="ctr">
              <a:defRPr sz="1800" b="1">
                <a:solidFill>
                  <a:srgbClr val="FFFFFF"/>
                </a:solidFill>
                <a:latin typeface="SF Pro Display"/>
              </a:defRPr>
            </a:pPr>
            <a:r>
              <a:t>4</a:t>
            </a:r>
          </a:p>
        </p:txBody>
      </p:sp>
      <p:sp>
        <p:nvSpPr>
          <p:cNvPr id="23" name="TextBox 22"/>
          <p:cNvSpPr txBox="1"/>
          <p:nvPr/>
        </p:nvSpPr>
        <p:spPr>
          <a:xfrm>
            <a:off x="8101584" y="2240280"/>
            <a:ext cx="1051560" cy="365760"/>
          </a:xfrm>
          <a:prstGeom prst="rect">
            <a:avLst/>
          </a:prstGeom>
          <a:noFill/>
        </p:spPr>
        <p:txBody>
          <a:bodyPr wrap="square">
            <a:spAutoFit/>
          </a:bodyPr>
          <a:lstStyle/>
          <a:p>
            <a:pPr algn="l">
              <a:defRPr sz="2000" b="1">
                <a:solidFill>
                  <a:srgbClr val="0B1C30"/>
                </a:solidFill>
                <a:latin typeface="SF Pro Display"/>
              </a:defRPr>
            </a:pPr>
            <a:r>
              <a:t>File &amp; Anchor</a:t>
            </a:r>
          </a:p>
        </p:txBody>
      </p:sp>
      <p:sp>
        <p:nvSpPr>
          <p:cNvPr id="24" name="TextBox 23"/>
          <p:cNvSpPr txBox="1"/>
          <p:nvPr/>
        </p:nvSpPr>
        <p:spPr>
          <a:xfrm>
            <a:off x="7598664" y="2697480"/>
            <a:ext cx="1554480" cy="1463040"/>
          </a:xfrm>
          <a:prstGeom prst="rect">
            <a:avLst/>
          </a:prstGeom>
          <a:noFill/>
        </p:spPr>
        <p:txBody>
          <a:bodyPr wrap="square">
            <a:spAutoFit/>
          </a:bodyPr>
          <a:lstStyle/>
          <a:p>
            <a:pPr algn="l">
              <a:defRPr sz="1400" b="0">
                <a:solidFill>
                  <a:srgbClr val="45464D"/>
                </a:solidFill>
                <a:latin typeface="SF Pro Display"/>
              </a:defRPr>
            </a:pPr>
            <a:r>
              <a:t>A Stellar TX ID and scannable QR appear on the receipt.</a:t>
            </a:r>
          </a:p>
        </p:txBody>
      </p:sp>
      <p:sp>
        <p:nvSpPr>
          <p:cNvPr id="25" name="Rounded Rectangle 24"/>
          <p:cNvSpPr/>
          <p:nvPr/>
        </p:nvSpPr>
        <p:spPr>
          <a:xfrm>
            <a:off x="9582912" y="2011680"/>
            <a:ext cx="2011680" cy="23774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811512" y="224028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811512" y="2286000"/>
            <a:ext cx="411480" cy="320040"/>
          </a:xfrm>
          <a:prstGeom prst="rect">
            <a:avLst/>
          </a:prstGeom>
          <a:noFill/>
        </p:spPr>
        <p:txBody>
          <a:bodyPr wrap="square">
            <a:spAutoFit/>
          </a:bodyPr>
          <a:lstStyle/>
          <a:p>
            <a:pPr algn="ctr">
              <a:defRPr sz="1800" b="1">
                <a:solidFill>
                  <a:srgbClr val="FFFFFF"/>
                </a:solidFill>
                <a:latin typeface="SF Pro Display"/>
              </a:defRPr>
            </a:pPr>
            <a:r>
              <a:t>5</a:t>
            </a:r>
          </a:p>
        </p:txBody>
      </p:sp>
      <p:sp>
        <p:nvSpPr>
          <p:cNvPr id="28" name="TextBox 27"/>
          <p:cNvSpPr txBox="1"/>
          <p:nvPr/>
        </p:nvSpPr>
        <p:spPr>
          <a:xfrm>
            <a:off x="10314432" y="2240280"/>
            <a:ext cx="1051560" cy="365760"/>
          </a:xfrm>
          <a:prstGeom prst="rect">
            <a:avLst/>
          </a:prstGeom>
          <a:noFill/>
        </p:spPr>
        <p:txBody>
          <a:bodyPr wrap="square">
            <a:spAutoFit/>
          </a:bodyPr>
          <a:lstStyle/>
          <a:p>
            <a:pPr algn="l">
              <a:defRPr sz="2000" b="1">
                <a:solidFill>
                  <a:srgbClr val="0B1C30"/>
                </a:solidFill>
                <a:latin typeface="SF Pro Display"/>
              </a:defRPr>
            </a:pPr>
            <a:r>
              <a:t>Verify</a:t>
            </a:r>
          </a:p>
        </p:txBody>
      </p:sp>
      <p:sp>
        <p:nvSpPr>
          <p:cNvPr id="29" name="TextBox 28"/>
          <p:cNvSpPr txBox="1"/>
          <p:nvPr/>
        </p:nvSpPr>
        <p:spPr>
          <a:xfrm>
            <a:off x="9811512" y="2697480"/>
            <a:ext cx="1554480" cy="1463040"/>
          </a:xfrm>
          <a:prstGeom prst="rect">
            <a:avLst/>
          </a:prstGeom>
          <a:noFill/>
        </p:spPr>
        <p:txBody>
          <a:bodyPr wrap="square">
            <a:spAutoFit/>
          </a:bodyPr>
          <a:lstStyle/>
          <a:p>
            <a:pPr algn="l">
              <a:defRPr sz="1400" b="0">
                <a:solidFill>
                  <a:srgbClr val="45464D"/>
                </a:solidFill>
                <a:latin typeface="SF Pro Display"/>
              </a:defRPr>
            </a:pPr>
            <a:r>
              <a:t>A loan officer scans it — compliance confirmed in ~30 seconds.</a:t>
            </a:r>
          </a:p>
        </p:txBody>
      </p:sp>
      <p:sp>
        <p:nvSpPr>
          <p:cNvPr id="30" name="Rounded Rectangle 29"/>
          <p:cNvSpPr/>
          <p:nvPr/>
        </p:nvSpPr>
        <p:spPr>
          <a:xfrm>
            <a:off x="731520" y="4572000"/>
            <a:ext cx="10725912" cy="15544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66360"/>
            <a:ext cx="10725912" cy="457200"/>
          </a:xfrm>
          <a:prstGeom prst="rect">
            <a:avLst/>
          </a:prstGeom>
          <a:noFill/>
        </p:spPr>
        <p:txBody>
          <a:bodyPr wrap="square">
            <a:spAutoFit/>
          </a:bodyPr>
          <a:lstStyle/>
          <a:p>
            <a:pPr algn="ctr">
              <a:defRPr sz="1500" b="0">
                <a:solidFill>
                  <a:srgbClr val="45464D"/>
                </a:solidFill>
                <a:latin typeface="SF Pro Display"/>
              </a:defRPr>
            </a:pPr>
            <a:r>
              <a:t>[Demo screen recording placeholder — onboarding → upload 2307 → returns compute → file one → QR / verification]</a:t>
            </a:r>
          </a:p>
        </p:txBody>
      </p:sp>
      <p:sp>
        <p:nvSpPr>
          <p:cNvPr id="32" name="Rectangle 31"/>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34" name="TextBox 33"/>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35" name="TextBox 34"/>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HOW IT WORKS</a:t>
            </a:r>
          </a:p>
        </p:txBody>
      </p:sp>
      <p:sp>
        <p:nvSpPr>
          <p:cNvPr id="3" name="TextBox 2"/>
          <p:cNvSpPr txBox="1"/>
          <p:nvPr/>
        </p:nvSpPr>
        <p:spPr>
          <a:xfrm>
            <a:off x="731520" y="914400"/>
            <a:ext cx="10058400" cy="548640"/>
          </a:xfrm>
          <a:prstGeom prst="rect">
            <a:avLst/>
          </a:prstGeom>
          <a:noFill/>
        </p:spPr>
        <p:txBody>
          <a:bodyPr wrap="square">
            <a:spAutoFit/>
          </a:bodyPr>
          <a:lstStyle/>
          <a:p>
            <a:pPr algn="l">
              <a:defRPr sz="4400" b="1">
                <a:solidFill>
                  <a:srgbClr val="0B1C30"/>
                </a:solidFill>
                <a:latin typeface="SF Pro Display"/>
              </a:defRPr>
            </a:pPr>
            <a:r>
              <a:t>One app. One engine. One immutable receipt.</a:t>
            </a:r>
          </a:p>
        </p:txBody>
      </p:sp>
      <p:sp>
        <p:nvSpPr>
          <p:cNvPr id="4" name="Rounded Rectangle 3"/>
          <p:cNvSpPr/>
          <p:nvPr/>
        </p:nvSpPr>
        <p:spPr>
          <a:xfrm>
            <a:off x="731520" y="1783080"/>
            <a:ext cx="594360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92807"/>
            <a:ext cx="5577840" cy="274320"/>
          </a:xfrm>
          <a:prstGeom prst="rect">
            <a:avLst/>
          </a:prstGeom>
          <a:noFill/>
        </p:spPr>
        <p:txBody>
          <a:bodyPr wrap="square">
            <a:spAutoFit/>
          </a:bodyPr>
          <a:lstStyle/>
          <a:p>
            <a:pPr algn="l">
              <a:defRPr sz="1700" b="1">
                <a:solidFill>
                  <a:srgbClr val="0B1C30"/>
                </a:solidFill>
                <a:latin typeface="SF Pro Display"/>
              </a:defRPr>
            </a:pPr>
            <a:r>
              <a:t>Upload income</a:t>
            </a:r>
          </a:p>
        </p:txBody>
      </p:sp>
      <p:sp>
        <p:nvSpPr>
          <p:cNvPr id="6" name="TextBox 5"/>
          <p:cNvSpPr txBox="1"/>
          <p:nvPr/>
        </p:nvSpPr>
        <p:spPr>
          <a:xfrm>
            <a:off x="914400" y="2167128"/>
            <a:ext cx="5577840" cy="320040"/>
          </a:xfrm>
          <a:prstGeom prst="rect">
            <a:avLst/>
          </a:prstGeom>
          <a:noFill/>
        </p:spPr>
        <p:txBody>
          <a:bodyPr wrap="square">
            <a:spAutoFit/>
          </a:bodyPr>
          <a:lstStyle/>
          <a:p>
            <a:pPr algn="l">
              <a:defRPr sz="1300" b="0">
                <a:solidFill>
                  <a:srgbClr val="45464D"/>
                </a:solidFill>
                <a:latin typeface="SF Pro Display"/>
              </a:defRPr>
            </a:pPr>
            <a:r>
              <a:t>Form 2307 certificates trigger a full-year recascade.</a:t>
            </a:r>
          </a:p>
        </p:txBody>
      </p:sp>
      <p:sp>
        <p:nvSpPr>
          <p:cNvPr id="7" name="TextBox 6"/>
          <p:cNvSpPr txBox="1"/>
          <p:nvPr/>
        </p:nvSpPr>
        <p:spPr>
          <a:xfrm>
            <a:off x="3474720" y="2532888"/>
            <a:ext cx="457200" cy="228600"/>
          </a:xfrm>
          <a:prstGeom prst="rect">
            <a:avLst/>
          </a:prstGeom>
          <a:noFill/>
        </p:spPr>
        <p:txBody>
          <a:bodyPr wrap="square">
            <a:spAutoFit/>
          </a:bodyPr>
          <a:lstStyle/>
          <a:p>
            <a:pPr algn="ctr">
              <a:defRPr sz="2000" b="1">
                <a:solidFill>
                  <a:srgbClr val="0D9488"/>
                </a:solidFill>
                <a:latin typeface="SF Pro Display"/>
              </a:defRPr>
            </a:pPr>
            <a:r>
              <a:t>↓</a:t>
            </a:r>
          </a:p>
        </p:txBody>
      </p:sp>
      <p:sp>
        <p:nvSpPr>
          <p:cNvPr id="8" name="Rounded Rectangle 7"/>
          <p:cNvSpPr/>
          <p:nvPr/>
        </p:nvSpPr>
        <p:spPr>
          <a:xfrm>
            <a:off x="731520" y="2743200"/>
            <a:ext cx="594360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52928"/>
            <a:ext cx="5577840" cy="274320"/>
          </a:xfrm>
          <a:prstGeom prst="rect">
            <a:avLst/>
          </a:prstGeom>
          <a:noFill/>
        </p:spPr>
        <p:txBody>
          <a:bodyPr wrap="square">
            <a:spAutoFit/>
          </a:bodyPr>
          <a:lstStyle/>
          <a:p>
            <a:pPr algn="l">
              <a:defRPr sz="1700" b="1">
                <a:solidFill>
                  <a:srgbClr val="0B1C30"/>
                </a:solidFill>
                <a:latin typeface="SF Pro Display"/>
              </a:defRPr>
            </a:pPr>
            <a:r>
              <a:t>Pure computation engine</a:t>
            </a:r>
          </a:p>
        </p:txBody>
      </p:sp>
      <p:sp>
        <p:nvSpPr>
          <p:cNvPr id="10" name="TextBox 9"/>
          <p:cNvSpPr txBox="1"/>
          <p:nvPr/>
        </p:nvSpPr>
        <p:spPr>
          <a:xfrm>
            <a:off x="914400" y="3127248"/>
            <a:ext cx="5577840" cy="320040"/>
          </a:xfrm>
          <a:prstGeom prst="rect">
            <a:avLst/>
          </a:prstGeom>
          <a:noFill/>
        </p:spPr>
        <p:txBody>
          <a:bodyPr wrap="square">
            <a:spAutoFit/>
          </a:bodyPr>
          <a:lstStyle/>
          <a:p>
            <a:pPr algn="l">
              <a:defRPr sz="1300" b="0">
                <a:solidFill>
                  <a:srgbClr val="45464D"/>
                </a:solidFill>
                <a:latin typeface="SF Pro Display"/>
              </a:defRPr>
            </a:pPr>
            <a:r>
              <a:t>Every return, in order, with RA 11976 penalties and holiday deadlines.</a:t>
            </a:r>
          </a:p>
        </p:txBody>
      </p:sp>
      <p:sp>
        <p:nvSpPr>
          <p:cNvPr id="11" name="TextBox 10"/>
          <p:cNvSpPr txBox="1"/>
          <p:nvPr/>
        </p:nvSpPr>
        <p:spPr>
          <a:xfrm>
            <a:off x="3474720" y="3493008"/>
            <a:ext cx="457200" cy="228600"/>
          </a:xfrm>
          <a:prstGeom prst="rect">
            <a:avLst/>
          </a:prstGeom>
          <a:noFill/>
        </p:spPr>
        <p:txBody>
          <a:bodyPr wrap="square">
            <a:spAutoFit/>
          </a:bodyPr>
          <a:lstStyle/>
          <a:p>
            <a:pPr algn="ctr">
              <a:defRPr sz="2000" b="1">
                <a:solidFill>
                  <a:srgbClr val="0D9488"/>
                </a:solidFill>
                <a:latin typeface="SF Pro Display"/>
              </a:defRPr>
            </a:pPr>
            <a:r>
              <a:t>↓</a:t>
            </a:r>
          </a:p>
        </p:txBody>
      </p:sp>
      <p:sp>
        <p:nvSpPr>
          <p:cNvPr id="12" name="Rounded Rectangle 11"/>
          <p:cNvSpPr/>
          <p:nvPr/>
        </p:nvSpPr>
        <p:spPr>
          <a:xfrm>
            <a:off x="731520" y="3703320"/>
            <a:ext cx="594360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13048"/>
            <a:ext cx="5577840" cy="274320"/>
          </a:xfrm>
          <a:prstGeom prst="rect">
            <a:avLst/>
          </a:prstGeom>
          <a:noFill/>
        </p:spPr>
        <p:txBody>
          <a:bodyPr wrap="square">
            <a:spAutoFit/>
          </a:bodyPr>
          <a:lstStyle/>
          <a:p>
            <a:pPr algn="l">
              <a:defRPr sz="1700" b="1">
                <a:solidFill>
                  <a:srgbClr val="0B1C30"/>
                </a:solidFill>
                <a:latin typeface="SF Pro Display"/>
              </a:defRPr>
            </a:pPr>
            <a:r>
              <a:t>Generate BIR PDF</a:t>
            </a:r>
          </a:p>
        </p:txBody>
      </p:sp>
      <p:sp>
        <p:nvSpPr>
          <p:cNvPr id="14" name="TextBox 13"/>
          <p:cNvSpPr txBox="1"/>
          <p:nvPr/>
        </p:nvSpPr>
        <p:spPr>
          <a:xfrm>
            <a:off x="914400" y="4087368"/>
            <a:ext cx="5577840" cy="320040"/>
          </a:xfrm>
          <a:prstGeom prst="rect">
            <a:avLst/>
          </a:prstGeom>
          <a:noFill/>
        </p:spPr>
        <p:txBody>
          <a:bodyPr wrap="square">
            <a:spAutoFit/>
          </a:bodyPr>
          <a:lstStyle/>
          <a:p>
            <a:pPr algn="l">
              <a:defRPr sz="1300" b="0">
                <a:solidFill>
                  <a:srgbClr val="45464D"/>
                </a:solidFill>
                <a:latin typeface="SF Pro Display"/>
              </a:defRPr>
            </a:pPr>
            <a:r>
              <a:t>Official-form PDFs plus SAWT and cover sheet.</a:t>
            </a:r>
          </a:p>
        </p:txBody>
      </p:sp>
      <p:sp>
        <p:nvSpPr>
          <p:cNvPr id="15" name="TextBox 14"/>
          <p:cNvSpPr txBox="1"/>
          <p:nvPr/>
        </p:nvSpPr>
        <p:spPr>
          <a:xfrm>
            <a:off x="3474720" y="4453128"/>
            <a:ext cx="457200" cy="228600"/>
          </a:xfrm>
          <a:prstGeom prst="rect">
            <a:avLst/>
          </a:prstGeom>
          <a:noFill/>
        </p:spPr>
        <p:txBody>
          <a:bodyPr wrap="square">
            <a:spAutoFit/>
          </a:bodyPr>
          <a:lstStyle/>
          <a:p>
            <a:pPr algn="ctr">
              <a:defRPr sz="2000" b="1">
                <a:solidFill>
                  <a:srgbClr val="0D9488"/>
                </a:solidFill>
                <a:latin typeface="SF Pro Display"/>
              </a:defRPr>
            </a:pPr>
            <a:r>
              <a:t>↓</a:t>
            </a:r>
          </a:p>
        </p:txBody>
      </p:sp>
      <p:sp>
        <p:nvSpPr>
          <p:cNvPr id="16" name="Rounded Rectangle 15"/>
          <p:cNvSpPr/>
          <p:nvPr/>
        </p:nvSpPr>
        <p:spPr>
          <a:xfrm>
            <a:off x="731520" y="4663440"/>
            <a:ext cx="5943600" cy="777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773168"/>
            <a:ext cx="5577840" cy="274320"/>
          </a:xfrm>
          <a:prstGeom prst="rect">
            <a:avLst/>
          </a:prstGeom>
          <a:noFill/>
        </p:spPr>
        <p:txBody>
          <a:bodyPr wrap="square">
            <a:spAutoFit/>
          </a:bodyPr>
          <a:lstStyle/>
          <a:p>
            <a:pPr algn="l">
              <a:defRPr sz="1700" b="1">
                <a:solidFill>
                  <a:srgbClr val="0B1C30"/>
                </a:solidFill>
                <a:latin typeface="SF Pro Display"/>
              </a:defRPr>
            </a:pPr>
            <a:r>
              <a:t>Anchor hash on Stellar</a:t>
            </a:r>
          </a:p>
        </p:txBody>
      </p:sp>
      <p:sp>
        <p:nvSpPr>
          <p:cNvPr id="18" name="TextBox 17"/>
          <p:cNvSpPr txBox="1"/>
          <p:nvPr/>
        </p:nvSpPr>
        <p:spPr>
          <a:xfrm>
            <a:off x="914400" y="5047488"/>
            <a:ext cx="5577840" cy="320040"/>
          </a:xfrm>
          <a:prstGeom prst="rect">
            <a:avLst/>
          </a:prstGeom>
          <a:noFill/>
        </p:spPr>
        <p:txBody>
          <a:bodyPr wrap="square">
            <a:spAutoFit/>
          </a:bodyPr>
          <a:lstStyle/>
          <a:p>
            <a:pPr algn="l">
              <a:defRPr sz="1300" b="0">
                <a:solidFill>
                  <a:srgbClr val="45464D"/>
                </a:solidFill>
                <a:latin typeface="SF Pro Display"/>
              </a:defRPr>
            </a:pPr>
            <a:r>
              <a:t>A SHA-256 fingerprint is stored as a manageData operation per return.</a:t>
            </a:r>
          </a:p>
        </p:txBody>
      </p:sp>
      <p:sp>
        <p:nvSpPr>
          <p:cNvPr id="19" name="TextBox 18"/>
          <p:cNvSpPr txBox="1"/>
          <p:nvPr/>
        </p:nvSpPr>
        <p:spPr>
          <a:xfrm>
            <a:off x="7315200" y="1828800"/>
            <a:ext cx="4114800" cy="3840480"/>
          </a:xfrm>
          <a:prstGeom prst="rect">
            <a:avLst/>
          </a:prstGeom>
          <a:noFill/>
        </p:spPr>
        <p:txBody>
          <a:bodyPr wrap="square">
            <a:spAutoFit/>
          </a:bodyPr>
          <a:lstStyle/>
          <a:p>
            <a:pPr>
              <a:buChar char="•"/>
              <a:spcAft>
                <a:spcPts val="1400"/>
              </a:spcAft>
              <a:defRPr sz="1600">
                <a:solidFill>
                  <a:srgbClr val="0B1C30"/>
                </a:solidFill>
                <a:latin typeface="SF Pro Text"/>
              </a:defRPr>
            </a:pPr>
            <a:r>
              <a:t>Money is never floating-point — all math runs through decimal.js.</a:t>
            </a:r>
          </a:p>
          <a:p>
            <a:pPr>
              <a:buChar char="•"/>
              <a:spcAft>
                <a:spcPts val="1400"/>
              </a:spcAft>
              <a:defRPr sz="1600">
                <a:solidFill>
                  <a:srgbClr val="0B1C30"/>
                </a:solidFill>
                <a:latin typeface="SF Pro Text"/>
              </a:defRPr>
            </a:pPr>
            <a:r>
              <a:t>Append-only audit trail — elections, filings, retries, and dispositions are logged forever.</a:t>
            </a:r>
          </a:p>
          <a:p>
            <a:pPr>
              <a:buChar char="•"/>
              <a:spcAft>
                <a:spcPts val="1400"/>
              </a:spcAft>
              <a:defRPr sz="1600">
                <a:solidFill>
                  <a:srgbClr val="0B1C30"/>
                </a:solidFill>
                <a:latin typeface="SF Pro Text"/>
              </a:defRPr>
            </a:pPr>
            <a:r>
              <a:t>Failure is graceful — if anchoring hiccups, the filing still succeeds and retries later.</a:t>
            </a:r>
          </a:p>
          <a:p>
            <a:pPr>
              <a:buChar char="•"/>
              <a:spcAft>
                <a:spcPts val="1400"/>
              </a:spcAft>
              <a:defRPr sz="1600">
                <a:solidFill>
                  <a:srgbClr val="0B1C30"/>
                </a:solidFill>
                <a:latin typeface="SF Pro Text"/>
              </a:defRPr>
            </a:pPr>
            <a:r>
              <a:t>Today: hash-only anchoring on testnet. The next sections cover how we deepen this into a real Stellar-native stack.</a:t>
            </a:r>
          </a:p>
        </p:txBody>
      </p:sp>
      <p:sp>
        <p:nvSpPr>
          <p:cNvPr id="20" name="Rectangle 19"/>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22" name="TextBox 21"/>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23" name="TextBox 22"/>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STELLAR ECOSYSTEM IMPACT</a:t>
            </a:r>
          </a:p>
        </p:txBody>
      </p:sp>
      <p:sp>
        <p:nvSpPr>
          <p:cNvPr id="3" name="TextBox 2"/>
          <p:cNvSpPr txBox="1"/>
          <p:nvPr/>
        </p:nvSpPr>
        <p:spPr>
          <a:xfrm>
            <a:off x="731520" y="914400"/>
            <a:ext cx="10515600" cy="822960"/>
          </a:xfrm>
          <a:prstGeom prst="rect">
            <a:avLst/>
          </a:prstGeom>
          <a:noFill/>
        </p:spPr>
        <p:txBody>
          <a:bodyPr wrap="square">
            <a:spAutoFit/>
          </a:bodyPr>
          <a:lstStyle/>
          <a:p>
            <a:pPr algn="l">
              <a:defRPr sz="3800" b="1">
                <a:solidFill>
                  <a:srgbClr val="0B1C30"/>
                </a:solidFill>
                <a:latin typeface="SF Pro Display"/>
              </a:defRPr>
            </a:pPr>
            <a:r>
              <a:t>A real Real-World-Access use case — and ecosystem whitespace.</a:t>
            </a:r>
          </a:p>
        </p:txBody>
      </p:sp>
      <p:sp>
        <p:nvSpPr>
          <p:cNvPr id="4" name="TextBox 3"/>
          <p:cNvSpPr txBox="1"/>
          <p:nvPr/>
        </p:nvSpPr>
        <p:spPr>
          <a:xfrm>
            <a:off x="731520" y="1920240"/>
            <a:ext cx="10332720" cy="4206240"/>
          </a:xfrm>
          <a:prstGeom prst="rect">
            <a:avLst/>
          </a:prstGeom>
          <a:noFill/>
        </p:spPr>
        <p:txBody>
          <a:bodyPr wrap="square">
            <a:spAutoFit/>
          </a:bodyPr>
          <a:lstStyle/>
          <a:p>
            <a:pPr>
              <a:buChar char="•"/>
              <a:spcAft>
                <a:spcPts val="1400"/>
              </a:spcAft>
              <a:defRPr sz="1800">
                <a:solidFill>
                  <a:srgbClr val="0B1C30"/>
                </a:solidFill>
                <a:latin typeface="SF Pro Text"/>
              </a:defRPr>
            </a:pPr>
            <a:r>
              <a:t>Non-speculative use case: every anchored receipt is a genuine compliance event, not a trading or DeFi transaction — the kind of "real world access" Stellar's own tracks are built to reward.</a:t>
            </a:r>
          </a:p>
          <a:p>
            <a:pPr>
              <a:buChar char="•"/>
              <a:spcAft>
                <a:spcPts val="1400"/>
              </a:spcAft>
              <a:defRPr sz="1800">
                <a:solidFill>
                  <a:srgbClr val="0B1C30"/>
                </a:solidFill>
                <a:latin typeface="SF Pro Text"/>
              </a:defRPr>
            </a:pPr>
            <a:r>
              <a:t>Ecosystem research (see GitHub issue #191) found no shipped Stellar product specifically for tax filing or government compliance — Krunchr is credible whitespace, not a me-too dApp.</a:t>
            </a:r>
          </a:p>
          <a:p>
            <a:pPr>
              <a:buChar char="•"/>
              <a:spcAft>
                <a:spcPts val="1400"/>
              </a:spcAft>
              <a:defRPr sz="1800">
                <a:solidFill>
                  <a:srgbClr val="0B1C30"/>
                </a:solidFill>
                <a:latin typeface="SF Pro Text"/>
              </a:defRPr>
            </a:pPr>
            <a:r>
              <a:t>The Philippines already has real Stellar payment-rail traction — Coins.ph (PHP anchor since ~2017) and MoneyGram Access's PHP/USDC corridor — giving Krunchr a market where Stellar rails are already trusted.</a:t>
            </a:r>
          </a:p>
          <a:p>
            <a:pPr>
              <a:buChar char="•"/>
              <a:spcAft>
                <a:spcPts val="1400"/>
              </a:spcAft>
              <a:defRPr sz="1800">
                <a:solidFill>
                  <a:srgbClr val="0B1C30"/>
                </a:solidFill>
                <a:latin typeface="SF Pro Text"/>
              </a:defRPr>
            </a:pPr>
            <a:r>
              <a:t>The roadmap (next slide) moves Krunchr from "a hash on a ledger" toward genuine on-chain infrastructure: a Soroban attestation registry and portable, privacy-preserving compliance credentials.</a:t>
            </a:r>
          </a:p>
          <a:p>
            <a:pPr>
              <a:buChar char="•"/>
              <a:spcAft>
                <a:spcPts val="1400"/>
              </a:spcAft>
              <a:defRPr sz="1800">
                <a:solidFill>
                  <a:srgbClr val="0B1C30"/>
                </a:solidFill>
                <a:latin typeface="SF Pro Text"/>
              </a:defRPr>
            </a:pPr>
            <a:r>
              <a:t>This positions Krunchr as a strong Stellar Community Fund (SCF) Build Award candidate — SCF 7.0 grants run $15K–$150K+ for exactly this kind of novel, real-world-impact use case.</a:t>
            </a:r>
          </a:p>
        </p:txBody>
      </p:sp>
      <p:sp>
        <p:nvSpPr>
          <p:cNvPr id="5" name="Rectangle 4"/>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7" name="TextBox 6"/>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8" name="TextBox 7"/>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ECOSYSTEM INTEGRATION ROADMAP</a:t>
            </a:r>
          </a:p>
        </p:txBody>
      </p:sp>
      <p:sp>
        <p:nvSpPr>
          <p:cNvPr id="3" name="TextBox 2"/>
          <p:cNvSpPr txBox="1"/>
          <p:nvPr/>
        </p:nvSpPr>
        <p:spPr>
          <a:xfrm>
            <a:off x="731520" y="914400"/>
            <a:ext cx="10515600" cy="822960"/>
          </a:xfrm>
          <a:prstGeom prst="rect">
            <a:avLst/>
          </a:prstGeom>
          <a:noFill/>
        </p:spPr>
        <p:txBody>
          <a:bodyPr wrap="square">
            <a:spAutoFit/>
          </a:bodyPr>
          <a:lstStyle/>
          <a:p>
            <a:pPr algn="l">
              <a:defRPr sz="3800" b="1">
                <a:solidFill>
                  <a:srgbClr val="0B1C30"/>
                </a:solidFill>
                <a:latin typeface="SF Pro Display"/>
              </a:defRPr>
            </a:pPr>
            <a:r>
              <a:t>Building on Stellar's existing rails, not around them.</a:t>
            </a:r>
          </a:p>
        </p:txBody>
      </p:sp>
      <p:sp>
        <p:nvSpPr>
          <p:cNvPr id="4" name="Rounded Rectangle 3"/>
          <p:cNvSpPr/>
          <p:nvPr/>
        </p:nvSpPr>
        <p:spPr>
          <a:xfrm>
            <a:off x="731520" y="2011680"/>
            <a:ext cx="2514600" cy="365760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40280"/>
            <a:ext cx="2057400" cy="365760"/>
          </a:xfrm>
          <a:prstGeom prst="rect">
            <a:avLst/>
          </a:prstGeom>
          <a:noFill/>
        </p:spPr>
        <p:txBody>
          <a:bodyPr wrap="square">
            <a:spAutoFit/>
          </a:bodyPr>
          <a:lstStyle/>
          <a:p>
            <a:pPr algn="l">
              <a:defRPr sz="1700" b="1">
                <a:solidFill>
                  <a:srgbClr val="0B1C30"/>
                </a:solidFill>
                <a:latin typeface="SF Pro Display"/>
              </a:defRPr>
            </a:pPr>
            <a:r>
              <a:t>Soroban Smart Contracts</a:t>
            </a:r>
          </a:p>
        </p:txBody>
      </p:sp>
      <p:sp>
        <p:nvSpPr>
          <p:cNvPr id="6" name="TextBox 5"/>
          <p:cNvSpPr txBox="1"/>
          <p:nvPr/>
        </p:nvSpPr>
        <p:spPr>
          <a:xfrm>
            <a:off x="960120" y="2697480"/>
            <a:ext cx="2057400" cy="2743200"/>
          </a:xfrm>
          <a:prstGeom prst="rect">
            <a:avLst/>
          </a:prstGeom>
          <a:noFill/>
        </p:spPr>
        <p:txBody>
          <a:bodyPr wrap="square">
            <a:spAutoFit/>
          </a:bodyPr>
          <a:lstStyle/>
          <a:p>
            <a:pPr algn="l">
              <a:defRPr sz="1250" b="0">
                <a:solidFill>
                  <a:srgbClr val="45464D"/>
                </a:solidFill>
                <a:latin typeface="SF Pro Display"/>
              </a:defRPr>
            </a:pPr>
            <a:r>
              <a:t>An on-chain receipt-registry contract: verify(returnId, hash) → bool, multi-party attestation via require_auth, and reusable OpenZeppelin RBAC for admin roles. Upgrades a flat hash into a queryable, tamper-proof registry.</a:t>
            </a:r>
          </a:p>
        </p:txBody>
      </p:sp>
      <p:sp>
        <p:nvSpPr>
          <p:cNvPr id="7" name="Rounded Rectangle 6"/>
          <p:cNvSpPr/>
          <p:nvPr/>
        </p:nvSpPr>
        <p:spPr>
          <a:xfrm>
            <a:off x="3429000" y="2011680"/>
            <a:ext cx="2514600" cy="365760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2240280"/>
            <a:ext cx="2057400" cy="365760"/>
          </a:xfrm>
          <a:prstGeom prst="rect">
            <a:avLst/>
          </a:prstGeom>
          <a:noFill/>
        </p:spPr>
        <p:txBody>
          <a:bodyPr wrap="square">
            <a:spAutoFit/>
          </a:bodyPr>
          <a:lstStyle/>
          <a:p>
            <a:pPr algn="l">
              <a:defRPr sz="1700" b="1">
                <a:solidFill>
                  <a:srgbClr val="0B1C30"/>
                </a:solidFill>
                <a:latin typeface="SF Pro Display"/>
              </a:defRPr>
            </a:pPr>
            <a:r>
              <a:t>Anchors · SEP-24 / SEP-31</a:t>
            </a:r>
          </a:p>
        </p:txBody>
      </p:sp>
      <p:sp>
        <p:nvSpPr>
          <p:cNvPr id="9" name="TextBox 8"/>
          <p:cNvSpPr txBox="1"/>
          <p:nvPr/>
        </p:nvSpPr>
        <p:spPr>
          <a:xfrm>
            <a:off x="3657600" y="2697480"/>
            <a:ext cx="2057400" cy="2743200"/>
          </a:xfrm>
          <a:prstGeom prst="rect">
            <a:avLst/>
          </a:prstGeom>
          <a:noFill/>
        </p:spPr>
        <p:txBody>
          <a:bodyPr wrap="square">
            <a:spAutoFit/>
          </a:bodyPr>
          <a:lstStyle/>
          <a:p>
            <a:pPr algn="l">
              <a:defRPr sz="1250" b="0">
                <a:solidFill>
                  <a:srgbClr val="45464D"/>
                </a:solidFill>
                <a:latin typeface="SF Pro Display"/>
              </a:defRPr>
            </a:pPr>
            <a:r>
              <a:t>PHP settlement via a Coins.ph-style anchor; USDC income intake from foreign clients auto-drafts an income record; a MoneyGram Access partnership for off-ramp payouts.</a:t>
            </a:r>
          </a:p>
        </p:txBody>
      </p:sp>
      <p:sp>
        <p:nvSpPr>
          <p:cNvPr id="10" name="Rounded Rectangle 9"/>
          <p:cNvSpPr/>
          <p:nvPr/>
        </p:nvSpPr>
        <p:spPr>
          <a:xfrm>
            <a:off x="6126480" y="2011680"/>
            <a:ext cx="2514600" cy="365760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2240280"/>
            <a:ext cx="2057400" cy="365760"/>
          </a:xfrm>
          <a:prstGeom prst="rect">
            <a:avLst/>
          </a:prstGeom>
          <a:noFill/>
        </p:spPr>
        <p:txBody>
          <a:bodyPr wrap="square">
            <a:spAutoFit/>
          </a:bodyPr>
          <a:lstStyle/>
          <a:p>
            <a:pPr algn="l">
              <a:defRPr sz="1700" b="1">
                <a:solidFill>
                  <a:srgbClr val="0B1C30"/>
                </a:solidFill>
                <a:latin typeface="SF Pro Display"/>
              </a:defRPr>
            </a:pPr>
            <a:r>
              <a:t>SEP-12 / SEP-45 (KYC)</a:t>
            </a:r>
          </a:p>
        </p:txBody>
      </p:sp>
      <p:sp>
        <p:nvSpPr>
          <p:cNvPr id="12" name="TextBox 11"/>
          <p:cNvSpPr txBox="1"/>
          <p:nvPr/>
        </p:nvSpPr>
        <p:spPr>
          <a:xfrm>
            <a:off x="6355080" y="2697480"/>
            <a:ext cx="2057400" cy="2743200"/>
          </a:xfrm>
          <a:prstGeom prst="rect">
            <a:avLst/>
          </a:prstGeom>
          <a:noFill/>
        </p:spPr>
        <p:txBody>
          <a:bodyPr wrap="square">
            <a:spAutoFit/>
          </a:bodyPr>
          <a:lstStyle/>
          <a:p>
            <a:pPr algn="l">
              <a:defRPr sz="1250" b="0">
                <a:solidFill>
                  <a:srgbClr val="45464D"/>
                </a:solidFill>
                <a:latin typeface="SF Pro Display"/>
              </a:defRPr>
            </a:pPr>
            <a:r>
              <a:t>Krunchr's TIN-verified TaxpayerProfile already matches SEP-12's KYC field set — we can act as a KYC source for anchors, plus adopt SEP-45 passkey/smart-wallet login.</a:t>
            </a:r>
          </a:p>
        </p:txBody>
      </p:sp>
      <p:sp>
        <p:nvSpPr>
          <p:cNvPr id="13" name="Rounded Rectangle 12"/>
          <p:cNvSpPr/>
          <p:nvPr/>
        </p:nvSpPr>
        <p:spPr>
          <a:xfrm>
            <a:off x="8823960" y="2011680"/>
            <a:ext cx="2514600" cy="365760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0" y="2240280"/>
            <a:ext cx="2057400" cy="365760"/>
          </a:xfrm>
          <a:prstGeom prst="rect">
            <a:avLst/>
          </a:prstGeom>
          <a:noFill/>
        </p:spPr>
        <p:txBody>
          <a:bodyPr wrap="square">
            <a:spAutoFit/>
          </a:bodyPr>
          <a:lstStyle/>
          <a:p>
            <a:pPr algn="l">
              <a:defRPr sz="1700" b="1">
                <a:solidFill>
                  <a:srgbClr val="0B1C30"/>
                </a:solidFill>
                <a:latin typeface="SF Pro Display"/>
              </a:defRPr>
            </a:pPr>
            <a:r>
              <a:t>Stellar DEX · SEP-38</a:t>
            </a:r>
          </a:p>
        </p:txBody>
      </p:sp>
      <p:sp>
        <p:nvSpPr>
          <p:cNvPr id="15" name="TextBox 14"/>
          <p:cNvSpPr txBox="1"/>
          <p:nvPr/>
        </p:nvSpPr>
        <p:spPr>
          <a:xfrm>
            <a:off x="9052560" y="2697480"/>
            <a:ext cx="2057400" cy="2743200"/>
          </a:xfrm>
          <a:prstGeom prst="rect">
            <a:avLst/>
          </a:prstGeom>
          <a:noFill/>
        </p:spPr>
        <p:txBody>
          <a:bodyPr wrap="square">
            <a:spAutoFit/>
          </a:bodyPr>
          <a:lstStyle/>
          <a:p>
            <a:pPr algn="l">
              <a:defRPr sz="1250" b="0">
                <a:solidFill>
                  <a:srgbClr val="45464D"/>
                </a:solidFill>
                <a:latin typeface="SF Pro Display"/>
              </a:defRPr>
            </a:pPr>
            <a:r>
              <a:t>For USD/USDC-paid freelancers: capture an auditable SEP-38 quote or DEX rate at income-declaration time, giving the peso figure a verifiable FX basis for a BIR audit.</a:t>
            </a:r>
          </a:p>
        </p:txBody>
      </p:sp>
      <p:sp>
        <p:nvSpPr>
          <p:cNvPr id="16" name="Rectangle 15"/>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18" name="TextBox 17"/>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19" name="TextBox 18"/>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THE BIG IDEA</a:t>
            </a:r>
          </a:p>
        </p:txBody>
      </p:sp>
      <p:sp>
        <p:nvSpPr>
          <p:cNvPr id="3" name="TextBox 2"/>
          <p:cNvSpPr txBox="1"/>
          <p:nvPr/>
        </p:nvSpPr>
        <p:spPr>
          <a:xfrm>
            <a:off x="731520" y="914400"/>
            <a:ext cx="10515600" cy="822960"/>
          </a:xfrm>
          <a:prstGeom prst="rect">
            <a:avLst/>
          </a:prstGeom>
          <a:noFill/>
        </p:spPr>
        <p:txBody>
          <a:bodyPr wrap="square">
            <a:spAutoFit/>
          </a:bodyPr>
          <a:lstStyle/>
          <a:p>
            <a:pPr algn="l">
              <a:defRPr sz="4000" b="1">
                <a:solidFill>
                  <a:srgbClr val="0B1C30"/>
                </a:solidFill>
                <a:latin typeface="SF Pro Display"/>
              </a:defRPr>
            </a:pPr>
            <a:r>
              <a:t>A portable, verifiable Compliance Credential.</a:t>
            </a:r>
          </a:p>
        </p:txBody>
      </p:sp>
      <p:sp>
        <p:nvSpPr>
          <p:cNvPr id="4" name="TextBox 3"/>
          <p:cNvSpPr txBox="1"/>
          <p:nvPr/>
        </p:nvSpPr>
        <p:spPr>
          <a:xfrm>
            <a:off x="731520" y="1691640"/>
            <a:ext cx="10332720" cy="457200"/>
          </a:xfrm>
          <a:prstGeom prst="rect">
            <a:avLst/>
          </a:prstGeom>
          <a:noFill/>
        </p:spPr>
        <p:txBody>
          <a:bodyPr wrap="square">
            <a:spAutoFit/>
          </a:bodyPr>
          <a:lstStyle/>
          <a:p>
            <a:pPr algn="l">
              <a:defRPr sz="2000" b="0">
                <a:solidFill>
                  <a:srgbClr val="45464D"/>
                </a:solidFill>
                <a:latin typeface="SF Pro Display"/>
              </a:defRPr>
            </a:pPr>
            <a:r>
              <a:t>The most differentiated, fundable idea from our ecosystem research — and likely genuine whitespace on Stellar.</a:t>
            </a:r>
          </a:p>
        </p:txBody>
      </p:sp>
      <p:sp>
        <p:nvSpPr>
          <p:cNvPr id="5" name="Rounded Rectangle 4"/>
          <p:cNvSpPr/>
          <p:nvPr/>
        </p:nvSpPr>
        <p:spPr>
          <a:xfrm>
            <a:off x="731520" y="2377440"/>
            <a:ext cx="3291840" cy="32918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260604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651760"/>
            <a:ext cx="411480" cy="320040"/>
          </a:xfrm>
          <a:prstGeom prst="rect">
            <a:avLst/>
          </a:prstGeom>
          <a:noFill/>
        </p:spPr>
        <p:txBody>
          <a:bodyPr wrap="square">
            <a:spAutoFit/>
          </a:bodyPr>
          <a:lstStyle/>
          <a:p>
            <a:pPr algn="ctr">
              <a:defRPr sz="1800" b="1">
                <a:solidFill>
                  <a:srgbClr val="FFFFFF"/>
                </a:solidFill>
                <a:latin typeface="SF Pro Display"/>
              </a:defRPr>
            </a:pPr>
            <a:r>
              <a:t>1</a:t>
            </a:r>
          </a:p>
        </p:txBody>
      </p:sp>
      <p:sp>
        <p:nvSpPr>
          <p:cNvPr id="8" name="TextBox 7"/>
          <p:cNvSpPr txBox="1"/>
          <p:nvPr/>
        </p:nvSpPr>
        <p:spPr>
          <a:xfrm>
            <a:off x="1463040" y="2606040"/>
            <a:ext cx="2331720" cy="365760"/>
          </a:xfrm>
          <a:prstGeom prst="rect">
            <a:avLst/>
          </a:prstGeom>
          <a:noFill/>
        </p:spPr>
        <p:txBody>
          <a:bodyPr wrap="square">
            <a:spAutoFit/>
          </a:bodyPr>
          <a:lstStyle/>
          <a:p>
            <a:pPr algn="l">
              <a:defRPr sz="2000" b="1">
                <a:solidFill>
                  <a:srgbClr val="0B1C30"/>
                </a:solidFill>
                <a:latin typeface="SF Pro Display"/>
              </a:defRPr>
            </a:pPr>
            <a:r>
              <a:t>Prove compliance, not income</a:t>
            </a:r>
          </a:p>
        </p:txBody>
      </p:sp>
      <p:sp>
        <p:nvSpPr>
          <p:cNvPr id="9" name="TextBox 8"/>
          <p:cNvSpPr txBox="1"/>
          <p:nvPr/>
        </p:nvSpPr>
        <p:spPr>
          <a:xfrm>
            <a:off x="960120" y="3063240"/>
            <a:ext cx="2834640" cy="2377440"/>
          </a:xfrm>
          <a:prstGeom prst="rect">
            <a:avLst/>
          </a:prstGeom>
          <a:noFill/>
        </p:spPr>
        <p:txBody>
          <a:bodyPr wrap="square">
            <a:spAutoFit/>
          </a:bodyPr>
          <a:lstStyle/>
          <a:p>
            <a:pPr algn="l">
              <a:defRPr sz="1400" b="0">
                <a:solidFill>
                  <a:srgbClr val="45464D"/>
                </a:solidFill>
                <a:latin typeface="SF Pro Display"/>
              </a:defRPr>
            </a:pPr>
            <a:r>
              <a:t>"Taxpayer X filed all mandated returns for TY2026, receipts anchored at ledgers …" — verifiable by a lender or embassy without seeing the underlying returns.</a:t>
            </a:r>
          </a:p>
        </p:txBody>
      </p:sp>
      <p:sp>
        <p:nvSpPr>
          <p:cNvPr id="10" name="Rounded Rectangle 9"/>
          <p:cNvSpPr/>
          <p:nvPr/>
        </p:nvSpPr>
        <p:spPr>
          <a:xfrm>
            <a:off x="4343400" y="2377440"/>
            <a:ext cx="3291840" cy="32918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72000" y="260604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651760"/>
            <a:ext cx="411480" cy="320040"/>
          </a:xfrm>
          <a:prstGeom prst="rect">
            <a:avLst/>
          </a:prstGeom>
          <a:noFill/>
        </p:spPr>
        <p:txBody>
          <a:bodyPr wrap="square">
            <a:spAutoFit/>
          </a:bodyPr>
          <a:lstStyle/>
          <a:p>
            <a:pPr algn="ctr">
              <a:defRPr sz="1800" b="1">
                <a:solidFill>
                  <a:srgbClr val="FFFFFF"/>
                </a:solidFill>
                <a:latin typeface="SF Pro Display"/>
              </a:defRPr>
            </a:pPr>
            <a:r>
              <a:t>2</a:t>
            </a:r>
          </a:p>
        </p:txBody>
      </p:sp>
      <p:sp>
        <p:nvSpPr>
          <p:cNvPr id="13" name="TextBox 12"/>
          <p:cNvSpPr txBox="1"/>
          <p:nvPr/>
        </p:nvSpPr>
        <p:spPr>
          <a:xfrm>
            <a:off x="5074920" y="2606040"/>
            <a:ext cx="2331720" cy="365760"/>
          </a:xfrm>
          <a:prstGeom prst="rect">
            <a:avLst/>
          </a:prstGeom>
          <a:noFill/>
        </p:spPr>
        <p:txBody>
          <a:bodyPr wrap="square">
            <a:spAutoFit/>
          </a:bodyPr>
          <a:lstStyle/>
          <a:p>
            <a:pPr algn="l">
              <a:defRPr sz="2000" b="1">
                <a:solidFill>
                  <a:srgbClr val="0B1C30"/>
                </a:solidFill>
                <a:latin typeface="SF Pro Display"/>
              </a:defRPr>
            </a:pPr>
            <a:r>
              <a:t>Selective disclosure (ZK)</a:t>
            </a:r>
          </a:p>
        </p:txBody>
      </p:sp>
      <p:sp>
        <p:nvSpPr>
          <p:cNvPr id="14" name="TextBox 13"/>
          <p:cNvSpPr txBox="1"/>
          <p:nvPr/>
        </p:nvSpPr>
        <p:spPr>
          <a:xfrm>
            <a:off x="4572000" y="3063240"/>
            <a:ext cx="2834640" cy="2377440"/>
          </a:xfrm>
          <a:prstGeom prst="rect">
            <a:avLst/>
          </a:prstGeom>
          <a:noFill/>
        </p:spPr>
        <p:txBody>
          <a:bodyPr wrap="square">
            <a:spAutoFit/>
          </a:bodyPr>
          <a:lstStyle/>
          <a:p>
            <a:pPr algn="l">
              <a:defRPr sz="1400" b="0">
                <a:solidFill>
                  <a:srgbClr val="45464D"/>
                </a:solidFill>
                <a:latin typeface="SF Pro Display"/>
              </a:defRPr>
            </a:pPr>
            <a:r>
              <a:t>Prove "declared income ≥ ₱X" or "compliant = true" without revealing exact figures, using Stellar's newer BN254/Poseidon primitives or an identity registry like Luminar.</a:t>
            </a:r>
          </a:p>
        </p:txBody>
      </p:sp>
      <p:sp>
        <p:nvSpPr>
          <p:cNvPr id="15" name="Rounded Rectangle 14"/>
          <p:cNvSpPr/>
          <p:nvPr/>
        </p:nvSpPr>
        <p:spPr>
          <a:xfrm>
            <a:off x="7955279" y="2377440"/>
            <a:ext cx="3291840" cy="3291840"/>
          </a:xfrm>
          <a:prstGeom prst="roundRect">
            <a:avLst>
              <a:gd name="adj" fmla="val 8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83879" y="2606040"/>
            <a:ext cx="411480" cy="41148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79" y="2651760"/>
            <a:ext cx="411480" cy="320040"/>
          </a:xfrm>
          <a:prstGeom prst="rect">
            <a:avLst/>
          </a:prstGeom>
          <a:noFill/>
        </p:spPr>
        <p:txBody>
          <a:bodyPr wrap="square">
            <a:spAutoFit/>
          </a:bodyPr>
          <a:lstStyle/>
          <a:p>
            <a:pPr algn="ctr">
              <a:defRPr sz="1800" b="1">
                <a:solidFill>
                  <a:srgbClr val="FFFFFF"/>
                </a:solidFill>
                <a:latin typeface="SF Pro Display"/>
              </a:defRPr>
            </a:pPr>
            <a:r>
              <a:t>3</a:t>
            </a:r>
          </a:p>
        </p:txBody>
      </p:sp>
      <p:sp>
        <p:nvSpPr>
          <p:cNvPr id="18" name="TextBox 17"/>
          <p:cNvSpPr txBox="1"/>
          <p:nvPr/>
        </p:nvSpPr>
        <p:spPr>
          <a:xfrm>
            <a:off x="8686800" y="2606040"/>
            <a:ext cx="2331720" cy="365760"/>
          </a:xfrm>
          <a:prstGeom prst="rect">
            <a:avLst/>
          </a:prstGeom>
          <a:noFill/>
        </p:spPr>
        <p:txBody>
          <a:bodyPr wrap="square">
            <a:spAutoFit/>
          </a:bodyPr>
          <a:lstStyle/>
          <a:p>
            <a:pPr algn="l">
              <a:defRPr sz="2000" b="1">
                <a:solidFill>
                  <a:srgbClr val="0B1C30"/>
                </a:solidFill>
                <a:latin typeface="SF Pro Display"/>
              </a:defRPr>
            </a:pPr>
            <a:r>
              <a:t>Government-attested, eventually</a:t>
            </a:r>
          </a:p>
        </p:txBody>
      </p:sp>
      <p:sp>
        <p:nvSpPr>
          <p:cNvPr id="19" name="TextBox 18"/>
          <p:cNvSpPr txBox="1"/>
          <p:nvPr/>
        </p:nvSpPr>
        <p:spPr>
          <a:xfrm>
            <a:off x="8183879" y="3063240"/>
            <a:ext cx="2834640" cy="2377440"/>
          </a:xfrm>
          <a:prstGeom prst="rect">
            <a:avLst/>
          </a:prstGeom>
          <a:noFill/>
        </p:spPr>
        <p:txBody>
          <a:bodyPr wrap="square">
            <a:spAutoFit/>
          </a:bodyPr>
          <a:lstStyle/>
          <a:p>
            <a:pPr algn="l">
              <a:defRPr sz="1400" b="0">
                <a:solidFill>
                  <a:srgbClr val="45464D"/>
                </a:solidFill>
                <a:latin typeface="SF Pro Display"/>
              </a:defRPr>
            </a:pPr>
            <a:r>
              <a:t>Adopt the SEP-57 / T-REX attestation pattern so a future BIR/RDO signer can endorse a receipt on-chain — upgrading a self-anchored hash into a government-attested record.</a:t>
            </a:r>
          </a:p>
        </p:txBody>
      </p:sp>
      <p:sp>
        <p:nvSpPr>
          <p:cNvPr id="20" name="Rectangle 19"/>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22" name="TextBox 21"/>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23" name="TextBox 22"/>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GO-TO-MARKET · LEVEL 1</a:t>
            </a:r>
          </a:p>
        </p:txBody>
      </p:sp>
      <p:sp>
        <p:nvSpPr>
          <p:cNvPr id="3" name="Rounded Rectangle 2"/>
          <p:cNvSpPr/>
          <p:nvPr/>
        </p:nvSpPr>
        <p:spPr>
          <a:xfrm>
            <a:off x="8961120" y="502920"/>
            <a:ext cx="2103120" cy="384048"/>
          </a:xfrm>
          <a:prstGeom prst="roundRect">
            <a:avLst>
              <a:gd name="adj" fmla="val 50000"/>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0" y="566928"/>
            <a:ext cx="2103120" cy="256032"/>
          </a:xfrm>
          <a:prstGeom prst="rect">
            <a:avLst/>
          </a:prstGeom>
          <a:noFill/>
        </p:spPr>
        <p:txBody>
          <a:bodyPr wrap="square">
            <a:spAutoFit/>
          </a:bodyPr>
          <a:lstStyle/>
          <a:p>
            <a:pPr algn="ctr">
              <a:defRPr sz="1400" b="1">
                <a:solidFill>
                  <a:srgbClr val="FFFFFF"/>
                </a:solidFill>
                <a:latin typeface="SF Pro Display"/>
              </a:defRPr>
            </a:pPr>
            <a:r>
              <a:t>PHILIPPINES · NOW</a:t>
            </a:r>
          </a:p>
        </p:txBody>
      </p:sp>
      <p:sp>
        <p:nvSpPr>
          <p:cNvPr id="5" name="TextBox 4"/>
          <p:cNvSpPr txBox="1"/>
          <p:nvPr/>
        </p:nvSpPr>
        <p:spPr>
          <a:xfrm>
            <a:off x="731520" y="914400"/>
            <a:ext cx="10058400" cy="822960"/>
          </a:xfrm>
          <a:prstGeom prst="rect">
            <a:avLst/>
          </a:prstGeom>
          <a:noFill/>
        </p:spPr>
        <p:txBody>
          <a:bodyPr wrap="square">
            <a:spAutoFit/>
          </a:bodyPr>
          <a:lstStyle/>
          <a:p>
            <a:pPr algn="l">
              <a:defRPr sz="3800" b="1">
                <a:solidFill>
                  <a:srgbClr val="0B1C30"/>
                </a:solidFill>
                <a:latin typeface="SF Pro Display"/>
              </a:defRPr>
            </a:pPr>
            <a:r>
              <a:t>Win the home market first: 8%-flat-rate freelancers.</a:t>
            </a:r>
          </a:p>
        </p:txBody>
      </p:sp>
      <p:sp>
        <p:nvSpPr>
          <p:cNvPr id="6" name="TextBox 5"/>
          <p:cNvSpPr txBox="1"/>
          <p:nvPr/>
        </p:nvSpPr>
        <p:spPr>
          <a:xfrm>
            <a:off x="731520" y="1920240"/>
            <a:ext cx="10332720" cy="4206240"/>
          </a:xfrm>
          <a:prstGeom prst="rect">
            <a:avLst/>
          </a:prstGeom>
          <a:noFill/>
        </p:spPr>
        <p:txBody>
          <a:bodyPr wrap="square">
            <a:spAutoFit/>
          </a:bodyPr>
          <a:lstStyle/>
          <a:p>
            <a:pPr>
              <a:buChar char="•"/>
              <a:spcAft>
                <a:spcPts val="1400"/>
              </a:spcAft>
              <a:defRPr sz="1800">
                <a:solidFill>
                  <a:srgbClr val="0B1C30"/>
                </a:solidFill>
                <a:latin typeface="SF Pro Text"/>
              </a:defRPr>
            </a:pPr>
            <a:r>
              <a:t>Direct-to-consumer: freemium SaaS — free computation, paid tier unlocks generation + anchored receipts + compliance credential.</a:t>
            </a:r>
          </a:p>
          <a:p>
            <a:pPr>
              <a:buChar char="•"/>
              <a:spcAft>
                <a:spcPts val="1400"/>
              </a:spcAft>
              <a:defRPr sz="1800">
                <a:solidFill>
                  <a:srgbClr val="0B1C30"/>
                </a:solidFill>
                <a:latin typeface="SF Pro Text"/>
              </a:defRPr>
            </a:pPr>
            <a:r>
              <a:t>Channel partnerships: bookkeepers, accountants, and freelancer communities/platforms (e.g. freelancing marketplaces, co-working spaces) as referral and onboarding channels.</a:t>
            </a:r>
          </a:p>
          <a:p>
            <a:pPr>
              <a:buChar char="•"/>
              <a:spcAft>
                <a:spcPts val="1400"/>
              </a:spcAft>
              <a:defRPr sz="1800">
                <a:solidFill>
                  <a:srgbClr val="0B1C30"/>
                </a:solidFill>
                <a:latin typeface="SF Pro Text"/>
              </a:defRPr>
            </a:pPr>
            <a:r>
              <a:t>Payment-rail partnership pilot: integrate a PHP anchor (Coins.ph-style) and/or MoneyGram Access so freelancers can settle USDC income and pay BIR dues without leaving the app.</a:t>
            </a:r>
          </a:p>
          <a:p>
            <a:pPr>
              <a:buChar char="•"/>
              <a:spcAft>
                <a:spcPts val="1400"/>
              </a:spcAft>
              <a:defRPr sz="1800">
                <a:solidFill>
                  <a:srgbClr val="0B1C30"/>
                </a:solidFill>
                <a:latin typeface="SF Pro Text"/>
              </a:defRPr>
            </a:pPr>
            <a:r>
              <a:t>Funding: apply for a Stellar Community Fund (SCF) Build Award to finance the Soroban registry and compliance-credential work ahead of revenue.</a:t>
            </a:r>
          </a:p>
          <a:p>
            <a:pPr>
              <a:buChar char="•"/>
              <a:spcAft>
                <a:spcPts val="1400"/>
              </a:spcAft>
              <a:defRPr sz="1800">
                <a:solidFill>
                  <a:srgbClr val="0B1C30"/>
                </a:solidFill>
                <a:latin typeface="SF Pro Text"/>
              </a:defRPr>
            </a:pPr>
            <a:r>
              <a:t>Proof point to carry forward: a verifiable receipt a Philippine bank or embassy can check in seconds — the trust unlock that sells the next two markets.</a:t>
            </a:r>
          </a:p>
        </p:txBody>
      </p:sp>
      <p:sp>
        <p:nvSpPr>
          <p:cNvPr id="7" name="Rectangle 6"/>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9" name="TextBox 8"/>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10" name="TextBox 9"/>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GO-TO-MARKET · LEVEL 2</a:t>
            </a:r>
          </a:p>
        </p:txBody>
      </p:sp>
      <p:sp>
        <p:nvSpPr>
          <p:cNvPr id="3" name="Rounded Rectangle 2"/>
          <p:cNvSpPr/>
          <p:nvPr/>
        </p:nvSpPr>
        <p:spPr>
          <a:xfrm>
            <a:off x="8961120" y="502920"/>
            <a:ext cx="2103120" cy="384048"/>
          </a:xfrm>
          <a:prstGeom prst="roundRect">
            <a:avLst>
              <a:gd name="adj" fmla="val 50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0" y="566928"/>
            <a:ext cx="2103120" cy="256032"/>
          </a:xfrm>
          <a:prstGeom prst="rect">
            <a:avLst/>
          </a:prstGeom>
          <a:noFill/>
        </p:spPr>
        <p:txBody>
          <a:bodyPr wrap="square">
            <a:spAutoFit/>
          </a:bodyPr>
          <a:lstStyle/>
          <a:p>
            <a:pPr algn="ctr">
              <a:defRPr sz="1300" b="1">
                <a:solidFill>
                  <a:srgbClr val="FFFFFF"/>
                </a:solidFill>
                <a:latin typeface="SF Pro Display"/>
              </a:defRPr>
            </a:pPr>
            <a:r>
              <a:t>APAC · NEXT 12–18 MO</a:t>
            </a:r>
          </a:p>
        </p:txBody>
      </p:sp>
      <p:sp>
        <p:nvSpPr>
          <p:cNvPr id="5" name="TextBox 4"/>
          <p:cNvSpPr txBox="1"/>
          <p:nvPr/>
        </p:nvSpPr>
        <p:spPr>
          <a:xfrm>
            <a:off x="731520" y="914400"/>
            <a:ext cx="10058400" cy="822960"/>
          </a:xfrm>
          <a:prstGeom prst="rect">
            <a:avLst/>
          </a:prstGeom>
          <a:noFill/>
        </p:spPr>
        <p:txBody>
          <a:bodyPr wrap="square">
            <a:spAutoFit/>
          </a:bodyPr>
          <a:lstStyle/>
          <a:p>
            <a:pPr algn="l">
              <a:defRPr sz="3800" b="1">
                <a:solidFill>
                  <a:srgbClr val="0B1C30"/>
                </a:solidFill>
                <a:latin typeface="SF Pro Display"/>
              </a:defRPr>
            </a:pPr>
            <a:r>
              <a:t>Replicate the engine, keep the Stellar spine.</a:t>
            </a:r>
          </a:p>
        </p:txBody>
      </p:sp>
      <p:sp>
        <p:nvSpPr>
          <p:cNvPr id="6" name="TextBox 5"/>
          <p:cNvSpPr txBox="1"/>
          <p:nvPr/>
        </p:nvSpPr>
        <p:spPr>
          <a:xfrm>
            <a:off x="731520" y="1920240"/>
            <a:ext cx="10332720" cy="4206240"/>
          </a:xfrm>
          <a:prstGeom prst="rect">
            <a:avLst/>
          </a:prstGeom>
          <a:noFill/>
        </p:spPr>
        <p:txBody>
          <a:bodyPr wrap="square">
            <a:spAutoFit/>
          </a:bodyPr>
          <a:lstStyle/>
          <a:p>
            <a:pPr>
              <a:buChar char="•"/>
              <a:spcAft>
                <a:spcPts val="1400"/>
              </a:spcAft>
              <a:defRPr sz="1800">
                <a:solidFill>
                  <a:srgbClr val="0B1C30"/>
                </a:solidFill>
                <a:latin typeface="SF Pro Text"/>
              </a:defRPr>
            </a:pPr>
            <a:r>
              <a:t>Target APAC markets with (a) large freelance/gig economies and (b) simplified or presumptive flat-tax regimes similar in shape to the Philippine 8% rate — the computation-engine pattern generalizes even though the tax law doesn't.</a:t>
            </a:r>
          </a:p>
          <a:p>
            <a:pPr>
              <a:buChar char="•"/>
              <a:spcAft>
                <a:spcPts val="1400"/>
              </a:spcAft>
              <a:defRPr sz="1800">
                <a:solidFill>
                  <a:srgbClr val="0B1C30"/>
                </a:solidFill>
                <a:latin typeface="SF Pro Text"/>
              </a:defRPr>
            </a:pPr>
            <a:r>
              <a:t>Localize the computation layer per country (tax brackets, forms, due dates) while reusing the architecture: recascade engine, PDF dispatcher, audit trail, and Stellar anchoring unchanged.</a:t>
            </a:r>
          </a:p>
          <a:p>
            <a:pPr>
              <a:buChar char="•"/>
              <a:spcAft>
                <a:spcPts val="1400"/>
              </a:spcAft>
              <a:defRPr sz="1800">
                <a:solidFill>
                  <a:srgbClr val="0B1C30"/>
                </a:solidFill>
                <a:latin typeface="SF Pro Text"/>
              </a:defRPr>
            </a:pPr>
            <a:r>
              <a:t>The Stellar-anchored receipt becomes the cross-border constant: a freelancer working across two APAC markets can carry one verifiable compliance history, not two incompatible paper trails.</a:t>
            </a:r>
          </a:p>
          <a:p>
            <a:pPr>
              <a:buChar char="•"/>
              <a:spcAft>
                <a:spcPts val="1400"/>
              </a:spcAft>
              <a:defRPr sz="1800">
                <a:solidFill>
                  <a:srgbClr val="0B1C30"/>
                </a:solidFill>
                <a:latin typeface="SF Pro Text"/>
              </a:defRPr>
            </a:pPr>
            <a:r>
              <a:t>Lean on Stellar's existing APAC anchor/remittance network (built on the same MoneyGram/anchor rails validated in the Philippines) rather than negotiating new payment infrastructure market-by-market.</a:t>
            </a:r>
          </a:p>
          <a:p>
            <a:pPr>
              <a:buChar char="•"/>
              <a:spcAft>
                <a:spcPts val="1400"/>
              </a:spcAft>
              <a:defRPr sz="1800">
                <a:solidFill>
                  <a:srgbClr val="0B1C30"/>
                </a:solidFill>
                <a:latin typeface="SF Pro Text"/>
              </a:defRPr>
            </a:pPr>
            <a:r>
              <a:t>Go-to-market motion: SCF ecosystem grants + local RegTech/accounting-software partnerships in each new market, mirroring the Philippine channel strategy.</a:t>
            </a:r>
          </a:p>
        </p:txBody>
      </p:sp>
      <p:sp>
        <p:nvSpPr>
          <p:cNvPr id="7" name="Rectangle 6"/>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9" name="TextBox 8"/>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10" name="TextBox 9"/>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sp>
        <p:nvSpPr>
          <p:cNvPr id="2" name="TextBox 1"/>
          <p:cNvSpPr txBox="1"/>
          <p:nvPr/>
        </p:nvSpPr>
        <p:spPr>
          <a:xfrm>
            <a:off x="731520" y="548640"/>
            <a:ext cx="10058400" cy="365760"/>
          </a:xfrm>
          <a:prstGeom prst="rect">
            <a:avLst/>
          </a:prstGeom>
          <a:noFill/>
        </p:spPr>
        <p:txBody>
          <a:bodyPr wrap="square">
            <a:spAutoFit/>
          </a:bodyPr>
          <a:lstStyle/>
          <a:p>
            <a:pPr algn="l">
              <a:defRPr sz="1500" b="1">
                <a:solidFill>
                  <a:srgbClr val="006A61"/>
                </a:solidFill>
                <a:latin typeface="SF Pro Display"/>
              </a:defRPr>
            </a:pPr>
            <a:r>
              <a:t>GO-TO-MARKET · LEVEL 3</a:t>
            </a:r>
          </a:p>
        </p:txBody>
      </p:sp>
      <p:sp>
        <p:nvSpPr>
          <p:cNvPr id="3" name="Rounded Rectangle 2"/>
          <p:cNvSpPr/>
          <p:nvPr/>
        </p:nvSpPr>
        <p:spPr>
          <a:xfrm>
            <a:off x="8961120" y="502920"/>
            <a:ext cx="2103120" cy="384048"/>
          </a:xfrm>
          <a:prstGeom prst="roundRect">
            <a:avLst>
              <a:gd name="adj" fmla="val 50000"/>
            </a:avLst>
          </a:prstGeom>
          <a:solidFill>
            <a:srgbClr val="4EDE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0" y="566928"/>
            <a:ext cx="2103120" cy="256032"/>
          </a:xfrm>
          <a:prstGeom prst="rect">
            <a:avLst/>
          </a:prstGeom>
          <a:noFill/>
        </p:spPr>
        <p:txBody>
          <a:bodyPr wrap="square">
            <a:spAutoFit/>
          </a:bodyPr>
          <a:lstStyle/>
          <a:p>
            <a:pPr algn="ctr">
              <a:defRPr sz="1300" b="1">
                <a:solidFill>
                  <a:srgbClr val="0B1C30"/>
                </a:solidFill>
                <a:latin typeface="SF Pro Display"/>
              </a:defRPr>
            </a:pPr>
            <a:r>
              <a:t>GLOBAL · LONG-TERM</a:t>
            </a:r>
          </a:p>
        </p:txBody>
      </p:sp>
      <p:sp>
        <p:nvSpPr>
          <p:cNvPr id="5" name="TextBox 4"/>
          <p:cNvSpPr txBox="1"/>
          <p:nvPr/>
        </p:nvSpPr>
        <p:spPr>
          <a:xfrm>
            <a:off x="731520" y="914400"/>
            <a:ext cx="10058400" cy="822960"/>
          </a:xfrm>
          <a:prstGeom prst="rect">
            <a:avLst/>
          </a:prstGeom>
          <a:noFill/>
        </p:spPr>
        <p:txBody>
          <a:bodyPr wrap="square">
            <a:spAutoFit/>
          </a:bodyPr>
          <a:lstStyle/>
          <a:p>
            <a:pPr algn="l">
              <a:defRPr sz="3800" b="1">
                <a:solidFill>
                  <a:srgbClr val="0B1C30"/>
                </a:solidFill>
                <a:latin typeface="SF Pro Display"/>
              </a:defRPr>
            </a:pPr>
            <a:r>
              <a:t>The Compliance Credential becomes the product.</a:t>
            </a:r>
          </a:p>
        </p:txBody>
      </p:sp>
      <p:sp>
        <p:nvSpPr>
          <p:cNvPr id="6" name="TextBox 5"/>
          <p:cNvSpPr txBox="1"/>
          <p:nvPr/>
        </p:nvSpPr>
        <p:spPr>
          <a:xfrm>
            <a:off x="731520" y="1920240"/>
            <a:ext cx="10332720" cy="4206240"/>
          </a:xfrm>
          <a:prstGeom prst="rect">
            <a:avLst/>
          </a:prstGeom>
          <a:noFill/>
        </p:spPr>
        <p:txBody>
          <a:bodyPr wrap="square">
            <a:spAutoFit/>
          </a:bodyPr>
          <a:lstStyle/>
          <a:p>
            <a:pPr>
              <a:buChar char="•"/>
              <a:spcAft>
                <a:spcPts val="1400"/>
              </a:spcAft>
              <a:defRPr sz="1800">
                <a:solidFill>
                  <a:srgbClr val="0B1C30"/>
                </a:solidFill>
                <a:latin typeface="SF Pro Text"/>
              </a:defRPr>
            </a:pPr>
            <a:r>
              <a:t>Beyond a country-by-country tax app, the durable global asset is the Verifiable Compliance Credential itself — a portable, privacy-preserving, Stellar-anchored proof of "this person/entity is tax-compliant."</a:t>
            </a:r>
          </a:p>
          <a:p>
            <a:pPr>
              <a:buChar char="•"/>
              <a:spcAft>
                <a:spcPts val="1400"/>
              </a:spcAft>
              <a:defRPr sz="1800">
                <a:solidFill>
                  <a:srgbClr val="0B1C30"/>
                </a:solidFill>
                <a:latin typeface="SF Pro Text"/>
              </a:defRPr>
            </a:pPr>
            <a:r>
              <a:t>B2B2C model: sell verification access to lenders, embassies, freelance marketplaces, and gig-economy platforms who need to check a worker's compliance status — the verifier pays, not only the taxpayer.</a:t>
            </a:r>
          </a:p>
          <a:p>
            <a:pPr>
              <a:buChar char="•"/>
              <a:spcAft>
                <a:spcPts val="1400"/>
              </a:spcAft>
              <a:defRPr sz="1800">
                <a:solidFill>
                  <a:srgbClr val="0B1C30"/>
                </a:solidFill>
                <a:latin typeface="SF Pro Text"/>
              </a:defRPr>
            </a:pPr>
            <a:r>
              <a:t>Position as Compliance-as-a-Service / RegTech-as-a-Service infrastructure for any platform with distributed, self-employed workers — the same problem Krunchr solves for Philippine freelancers exists worldwide.</a:t>
            </a:r>
          </a:p>
          <a:p>
            <a:pPr>
              <a:buChar char="•"/>
              <a:spcAft>
                <a:spcPts val="1400"/>
              </a:spcAft>
              <a:defRPr sz="1800">
                <a:solidFill>
                  <a:srgbClr val="0B1C30"/>
                </a:solidFill>
                <a:latin typeface="SF Pro Text"/>
              </a:defRPr>
            </a:pPr>
            <a:r>
              <a:t>Revenue mix at scale: freemium subscriptions (consumer) + per-filing anchoring fees (high margin, Stellar network cost is negligible) + credential-verification fees (B2B, most defensible).</a:t>
            </a:r>
          </a:p>
          <a:p>
            <a:pPr>
              <a:buChar char="•"/>
              <a:spcAft>
                <a:spcPts val="1400"/>
              </a:spcAft>
              <a:defRPr sz="1800">
                <a:solidFill>
                  <a:srgbClr val="0B1C30"/>
                </a:solidFill>
                <a:latin typeface="SF Pro Text"/>
              </a:defRPr>
            </a:pPr>
            <a:r>
              <a:t>Global credibility path: SCF-funded Soroban infrastructure → proven Philippine + APAC deployments → credential-verification partnerships with international platforms.</a:t>
            </a:r>
          </a:p>
        </p:txBody>
      </p:sp>
      <p:sp>
        <p:nvSpPr>
          <p:cNvPr id="7" name="Rectangle 6"/>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9" name="TextBox 8"/>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10" name="TextBox 9"/>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9FF"/>
        </a:solidFill>
        <a:effectLst/>
      </p:bgPr>
    </p:bg>
    <p:spTree>
      <p:nvGrpSpPr>
        <p:cNvPr id="1" name=""/>
        <p:cNvGrpSpPr/>
        <p:nvPr/>
      </p:nvGrpSpPr>
      <p:grpSpPr/>
      <p:pic>
        <p:nvPicPr>
          <p:cNvPr id="2" name="Picture 1" descr="logo-colored-pptx.png"/>
          <p:cNvPicPr>
            <a:picLocks noChangeAspect="1"/>
          </p:cNvPicPr>
          <p:nvPr/>
        </p:nvPicPr>
        <p:blipFill>
          <a:blip r:embed="rId2"/>
          <a:stretch>
            <a:fillRect/>
          </a:stretch>
        </p:blipFill>
        <p:spPr>
          <a:xfrm>
            <a:off x="5623560" y="822960"/>
            <a:ext cx="914400" cy="914400"/>
          </a:xfrm>
          <a:prstGeom prst="rect">
            <a:avLst/>
          </a:prstGeom>
        </p:spPr>
      </p:pic>
      <p:sp>
        <p:nvSpPr>
          <p:cNvPr id="3" name="TextBox 2"/>
          <p:cNvSpPr txBox="1"/>
          <p:nvPr/>
        </p:nvSpPr>
        <p:spPr>
          <a:xfrm>
            <a:off x="731520" y="1828800"/>
            <a:ext cx="10725912" cy="731520"/>
          </a:xfrm>
          <a:prstGeom prst="rect">
            <a:avLst/>
          </a:prstGeom>
          <a:noFill/>
        </p:spPr>
        <p:txBody>
          <a:bodyPr wrap="square">
            <a:spAutoFit/>
          </a:bodyPr>
          <a:lstStyle/>
          <a:p>
            <a:pPr algn="ctr">
              <a:defRPr sz="5600" b="1">
                <a:solidFill>
                  <a:srgbClr val="0B1C30"/>
                </a:solidFill>
                <a:latin typeface="SF Pro Display"/>
              </a:defRPr>
            </a:pPr>
            <a:r>
              <a:t>Thank you.</a:t>
            </a:r>
          </a:p>
        </p:txBody>
      </p:sp>
      <p:sp>
        <p:nvSpPr>
          <p:cNvPr id="4" name="TextBox 3"/>
          <p:cNvSpPr txBox="1"/>
          <p:nvPr/>
        </p:nvSpPr>
        <p:spPr>
          <a:xfrm>
            <a:off x="731520" y="2560320"/>
            <a:ext cx="10725912" cy="365760"/>
          </a:xfrm>
          <a:prstGeom prst="rect">
            <a:avLst/>
          </a:prstGeom>
          <a:noFill/>
        </p:spPr>
        <p:txBody>
          <a:bodyPr wrap="square">
            <a:spAutoFit/>
          </a:bodyPr>
          <a:lstStyle/>
          <a:p>
            <a:pPr algn="ctr">
              <a:defRPr sz="2400" b="0">
                <a:solidFill>
                  <a:srgbClr val="45464D"/>
                </a:solidFill>
                <a:latin typeface="SF Pro Display"/>
              </a:defRPr>
            </a:pPr>
            <a:r>
              <a:t>Eight returns. One upload. One Stellar-native compliance layer.</a:t>
            </a:r>
          </a:p>
        </p:txBody>
      </p:sp>
      <p:sp>
        <p:nvSpPr>
          <p:cNvPr id="5" name="Rounded Rectangle 4"/>
          <p:cNvSpPr/>
          <p:nvPr/>
        </p:nvSpPr>
        <p:spPr>
          <a:xfrm>
            <a:off x="2834640" y="3291840"/>
            <a:ext cx="182880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3429000" y="3520440"/>
            <a:ext cx="640080" cy="640080"/>
          </a:xfrm>
          <a:prstGeom prst="ellipse">
            <a:avLst/>
          </a:prstGeom>
          <a:solidFill>
            <a:srgbClr val="E5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4251960"/>
            <a:ext cx="1828800" cy="274320"/>
          </a:xfrm>
          <a:prstGeom prst="rect">
            <a:avLst/>
          </a:prstGeom>
          <a:noFill/>
        </p:spPr>
        <p:txBody>
          <a:bodyPr wrap="square">
            <a:spAutoFit/>
          </a:bodyPr>
          <a:lstStyle/>
          <a:p>
            <a:pPr algn="ctr">
              <a:defRPr sz="1800" b="1">
                <a:solidFill>
                  <a:srgbClr val="0B1C30"/>
                </a:solidFill>
                <a:latin typeface="SF Pro Display"/>
              </a:defRPr>
            </a:pPr>
            <a:r>
              <a:t>[Name]</a:t>
            </a:r>
          </a:p>
        </p:txBody>
      </p:sp>
      <p:sp>
        <p:nvSpPr>
          <p:cNvPr id="8" name="TextBox 7"/>
          <p:cNvSpPr txBox="1"/>
          <p:nvPr/>
        </p:nvSpPr>
        <p:spPr>
          <a:xfrm>
            <a:off x="2834640" y="4572000"/>
            <a:ext cx="1828800" cy="228600"/>
          </a:xfrm>
          <a:prstGeom prst="rect">
            <a:avLst/>
          </a:prstGeom>
          <a:noFill/>
        </p:spPr>
        <p:txBody>
          <a:bodyPr wrap="square">
            <a:spAutoFit/>
          </a:bodyPr>
          <a:lstStyle/>
          <a:p>
            <a:pPr algn="ctr">
              <a:defRPr sz="1400" b="0">
                <a:solidFill>
                  <a:srgbClr val="45464D"/>
                </a:solidFill>
                <a:latin typeface="SF Pro Display"/>
              </a:defRPr>
            </a:pPr>
            <a:r>
              <a:t>[Role]</a:t>
            </a:r>
          </a:p>
        </p:txBody>
      </p:sp>
      <p:sp>
        <p:nvSpPr>
          <p:cNvPr id="9" name="Rounded Rectangle 8"/>
          <p:cNvSpPr/>
          <p:nvPr/>
        </p:nvSpPr>
        <p:spPr>
          <a:xfrm>
            <a:off x="5029200" y="3291840"/>
            <a:ext cx="182880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623560" y="3520440"/>
            <a:ext cx="640080" cy="640080"/>
          </a:xfrm>
          <a:prstGeom prst="ellipse">
            <a:avLst/>
          </a:prstGeom>
          <a:solidFill>
            <a:srgbClr val="E5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4251960"/>
            <a:ext cx="1828800" cy="274320"/>
          </a:xfrm>
          <a:prstGeom prst="rect">
            <a:avLst/>
          </a:prstGeom>
          <a:noFill/>
        </p:spPr>
        <p:txBody>
          <a:bodyPr wrap="square">
            <a:spAutoFit/>
          </a:bodyPr>
          <a:lstStyle/>
          <a:p>
            <a:pPr algn="ctr">
              <a:defRPr sz="1800" b="1">
                <a:solidFill>
                  <a:srgbClr val="0B1C30"/>
                </a:solidFill>
                <a:latin typeface="SF Pro Display"/>
              </a:defRPr>
            </a:pPr>
            <a:r>
              <a:t>[Name]</a:t>
            </a:r>
          </a:p>
        </p:txBody>
      </p:sp>
      <p:sp>
        <p:nvSpPr>
          <p:cNvPr id="12" name="TextBox 11"/>
          <p:cNvSpPr txBox="1"/>
          <p:nvPr/>
        </p:nvSpPr>
        <p:spPr>
          <a:xfrm>
            <a:off x="5029200" y="4572000"/>
            <a:ext cx="1828800" cy="228600"/>
          </a:xfrm>
          <a:prstGeom prst="rect">
            <a:avLst/>
          </a:prstGeom>
          <a:noFill/>
        </p:spPr>
        <p:txBody>
          <a:bodyPr wrap="square">
            <a:spAutoFit/>
          </a:bodyPr>
          <a:lstStyle/>
          <a:p>
            <a:pPr algn="ctr">
              <a:defRPr sz="1400" b="0">
                <a:solidFill>
                  <a:srgbClr val="45464D"/>
                </a:solidFill>
                <a:latin typeface="SF Pro Display"/>
              </a:defRPr>
            </a:pPr>
            <a:r>
              <a:t>[Role]</a:t>
            </a:r>
          </a:p>
        </p:txBody>
      </p:sp>
      <p:sp>
        <p:nvSpPr>
          <p:cNvPr id="13" name="Rounded Rectangle 12"/>
          <p:cNvSpPr/>
          <p:nvPr/>
        </p:nvSpPr>
        <p:spPr>
          <a:xfrm>
            <a:off x="7223760" y="3291840"/>
            <a:ext cx="1828800" cy="18288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18120" y="3520440"/>
            <a:ext cx="640080" cy="640080"/>
          </a:xfrm>
          <a:prstGeom prst="ellipse">
            <a:avLst/>
          </a:prstGeom>
          <a:solidFill>
            <a:srgbClr val="E5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4251960"/>
            <a:ext cx="1828800" cy="274320"/>
          </a:xfrm>
          <a:prstGeom prst="rect">
            <a:avLst/>
          </a:prstGeom>
          <a:noFill/>
        </p:spPr>
        <p:txBody>
          <a:bodyPr wrap="square">
            <a:spAutoFit/>
          </a:bodyPr>
          <a:lstStyle/>
          <a:p>
            <a:pPr algn="ctr">
              <a:defRPr sz="1800" b="1">
                <a:solidFill>
                  <a:srgbClr val="0B1C30"/>
                </a:solidFill>
                <a:latin typeface="SF Pro Display"/>
              </a:defRPr>
            </a:pPr>
            <a:r>
              <a:t>[Name]</a:t>
            </a:r>
          </a:p>
        </p:txBody>
      </p:sp>
      <p:sp>
        <p:nvSpPr>
          <p:cNvPr id="16" name="TextBox 15"/>
          <p:cNvSpPr txBox="1"/>
          <p:nvPr/>
        </p:nvSpPr>
        <p:spPr>
          <a:xfrm>
            <a:off x="7223760" y="4572000"/>
            <a:ext cx="1828800" cy="228600"/>
          </a:xfrm>
          <a:prstGeom prst="rect">
            <a:avLst/>
          </a:prstGeom>
          <a:noFill/>
        </p:spPr>
        <p:txBody>
          <a:bodyPr wrap="square">
            <a:spAutoFit/>
          </a:bodyPr>
          <a:lstStyle/>
          <a:p>
            <a:pPr algn="ctr">
              <a:defRPr sz="1400" b="0">
                <a:solidFill>
                  <a:srgbClr val="45464D"/>
                </a:solidFill>
                <a:latin typeface="SF Pro Display"/>
              </a:defRPr>
            </a:pPr>
            <a:r>
              <a:t>[Role]</a:t>
            </a:r>
          </a:p>
        </p:txBody>
      </p:sp>
      <p:sp>
        <p:nvSpPr>
          <p:cNvPr id="17" name="TextBox 16"/>
          <p:cNvSpPr txBox="1"/>
          <p:nvPr/>
        </p:nvSpPr>
        <p:spPr>
          <a:xfrm>
            <a:off x="731520" y="5394960"/>
            <a:ext cx="10725912" cy="274320"/>
          </a:xfrm>
          <a:prstGeom prst="rect">
            <a:avLst/>
          </a:prstGeom>
          <a:noFill/>
        </p:spPr>
        <p:txBody>
          <a:bodyPr wrap="square">
            <a:spAutoFit/>
          </a:bodyPr>
          <a:lstStyle/>
          <a:p>
            <a:pPr algn="ctr">
              <a:defRPr sz="1700" b="1">
                <a:solidFill>
                  <a:srgbClr val="006A61"/>
                </a:solidFill>
                <a:latin typeface="SF Pro Display"/>
              </a:defRPr>
            </a:pPr>
            <a:r>
              <a:t>app.krunchr.xyz    ·    krunchr.xyz    ·    krunchr@artisam.xyz</a:t>
            </a:r>
          </a:p>
        </p:txBody>
      </p:sp>
      <p:sp>
        <p:nvSpPr>
          <p:cNvPr id="18" name="TextBox 17"/>
          <p:cNvSpPr txBox="1"/>
          <p:nvPr/>
        </p:nvSpPr>
        <p:spPr>
          <a:xfrm>
            <a:off x="731520" y="5760720"/>
            <a:ext cx="10725912" cy="274320"/>
          </a:xfrm>
          <a:prstGeom prst="rect">
            <a:avLst/>
          </a:prstGeom>
          <a:noFill/>
        </p:spPr>
        <p:txBody>
          <a:bodyPr wrap="square">
            <a:spAutoFit/>
          </a:bodyPr>
          <a:lstStyle/>
          <a:p>
            <a:pPr algn="ctr">
              <a:defRPr sz="1300" b="0">
                <a:solidFill>
                  <a:srgbClr val="45464D"/>
                </a:solidFill>
                <a:latin typeface="SF Pro Display"/>
              </a:defRPr>
            </a:pPr>
            <a:r>
              <a:t>Ecosystem research &amp; reference links: github.com/webnxt-2030/krunchr, issue #191</a:t>
            </a:r>
          </a:p>
        </p:txBody>
      </p:sp>
      <p:sp>
        <p:nvSpPr>
          <p:cNvPr id="19" name="Rectangle 18"/>
          <p:cNvSpPr/>
          <p:nvPr/>
        </p:nvSpPr>
        <p:spPr>
          <a:xfrm>
            <a:off x="548640" y="6355080"/>
            <a:ext cx="11091672"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go-colored-pptx.png"/>
          <p:cNvPicPr>
            <a:picLocks noChangeAspect="1"/>
          </p:cNvPicPr>
          <p:nvPr/>
        </p:nvPicPr>
        <p:blipFill>
          <a:blip r:embed="rId2"/>
          <a:stretch>
            <a:fillRect/>
          </a:stretch>
        </p:blipFill>
        <p:spPr>
          <a:xfrm>
            <a:off x="548640" y="6446520"/>
            <a:ext cx="320040" cy="320040"/>
          </a:xfrm>
          <a:prstGeom prst="rect">
            <a:avLst/>
          </a:prstGeom>
        </p:spPr>
      </p:pic>
      <p:sp>
        <p:nvSpPr>
          <p:cNvPr id="21" name="TextBox 20"/>
          <p:cNvSpPr txBox="1"/>
          <p:nvPr/>
        </p:nvSpPr>
        <p:spPr>
          <a:xfrm>
            <a:off x="960120" y="6446520"/>
            <a:ext cx="2743200" cy="274320"/>
          </a:xfrm>
          <a:prstGeom prst="rect">
            <a:avLst/>
          </a:prstGeom>
          <a:noFill/>
        </p:spPr>
        <p:txBody>
          <a:bodyPr wrap="square">
            <a:spAutoFit/>
          </a:bodyPr>
          <a:lstStyle/>
          <a:p>
            <a:pPr algn="l">
              <a:defRPr sz="1400" b="1">
                <a:solidFill>
                  <a:srgbClr val="0B1C30"/>
                </a:solidFill>
                <a:latin typeface="SF Pro Display"/>
              </a:defRPr>
            </a:pPr>
            <a:r>
              <a:t>Krunchr · Pitch Deck v3</a:t>
            </a:r>
          </a:p>
        </p:txBody>
      </p:sp>
      <p:sp>
        <p:nvSpPr>
          <p:cNvPr id="22" name="TextBox 21"/>
          <p:cNvSpPr txBox="1"/>
          <p:nvPr/>
        </p:nvSpPr>
        <p:spPr>
          <a:xfrm>
            <a:off x="10607040" y="6446520"/>
            <a:ext cx="1005840" cy="274320"/>
          </a:xfrm>
          <a:prstGeom prst="rect">
            <a:avLst/>
          </a:prstGeom>
          <a:noFill/>
        </p:spPr>
        <p:txBody>
          <a:bodyPr wrap="square">
            <a:spAutoFit/>
          </a:bodyPr>
          <a:lstStyle/>
          <a:p>
            <a:pPr algn="r">
              <a:defRPr sz="1400" b="0">
                <a:solidFill>
                  <a:srgbClr val="45464D"/>
                </a:solidFill>
                <a:latin typeface="SF Pro Display"/>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