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100584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5464D"/>
                </a:solidFill>
                <a:latin typeface="SF Pro Display"/>
              </a:defRPr>
            </a:pPr>
            <a:r>
              <a:t>Compliance Engine — Philippine tax filing, automated.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45464D"/>
                </a:solidFill>
                <a:latin typeface="SF Pro Display"/>
              </a:defRPr>
            </a:pPr>
            <a:r>
              <a:t>Turns one of the most anxious chores a Filipino freelancer faces into something that just feels handled.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A61"/>
                </a:solidFill>
                <a:latin typeface="SF Pro Display"/>
              </a:defRPr>
            </a:pPr>
            <a:r>
              <a:t>APAC Stellar Hackathon 2026 · Local Finance &amp; Real World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5464D"/>
                </a:solidFill>
                <a:latin typeface="SF Pro Display"/>
              </a:defRPr>
            </a:pPr>
            <a:r>
              <a:t>Team: [PLACEHOLDER]    Contact: krunchr@artisam.xyz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1"/>
                </a:solidFill>
                <a:latin typeface="SF Pro Display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C30"/>
                </a:solidFill>
                <a:latin typeface="SF Pro Display"/>
              </a:defRPr>
            </a:pPr>
            <a:r>
              <a:t>Eight returns a year. One mistake costs money, time, and trust.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A freelancer on the 8% flat rate owes up to 8 BIR returns a year — 2551Q ×4, 1701Q ×3, 1701A — in strict legal order.</a:t>
            </a:r>
          </a:p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The rules interact badly: the 8% election is irrevocable; mixed-income earners lose the ₱250,000 exemption; penalties changed under RA 11976; due dates roll past Philippine holidays.</a:t>
            </a:r>
          </a:p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One wrong sequence or missed deadline → surcharge, daily interest, compromise penalties, and a black mark banks and embassies ask about.</a:t>
            </a:r>
          </a:p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Once filed, all a freelancer has is a scanned PDF — no quick, trustworthy way for a third party to verify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828800"/>
            <a:ext cx="347472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3383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5464D"/>
                </a:solidFill>
                <a:latin typeface="SF Pro Display"/>
              </a:defRPr>
            </a:pPr>
            <a:r>
              <a:t>[Generated image placeholder: overwhelmed freelancer buried in tax forms and deadlines]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1"/>
                </a:solidFill>
                <a:latin typeface="SF Pro Display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C30"/>
                </a:solidFill>
                <a:latin typeface="SF Pro Display"/>
              </a:defRPr>
            </a:pPr>
            <a:r>
              <a:t>Krunchr turns eight confusing returns into one upload.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2860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2402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Upload Form 2307s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9748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Drop in withholding certificates. The engine recomputes your entire tax year, every return, in the correct legal sequence.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11680"/>
            <a:ext cx="22860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2402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Correct by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9748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8% rules, RA 11976 penalty rates, holiday-aware due dates, and mixed-income exemption rules are enforced in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2011680"/>
            <a:ext cx="22860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97880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80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Tamper-Evident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69748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Every filed return is anchored on Stellar. Banks, embassies, or auditors can verify it in seconds, not trust a PDF.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22860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24028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One-Click Filing Package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97480"/>
            <a:ext cx="1828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All return PDFs, the SAWT summary, and a cover sheet — bundled and ready to download.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1"/>
                </a:solidFill>
                <a:latin typeface="SF Pro Display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C30"/>
                </a:solidFill>
                <a:latin typeface="SF Pro Display"/>
              </a:defRPr>
            </a:pPr>
            <a:r>
              <a:t>The single demo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5464D"/>
                </a:solidFill>
                <a:latin typeface="SF Pro Display"/>
              </a:defRPr>
            </a:pPr>
            <a:r>
              <a:t>From onboarding to verified compliance in about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Onboard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Maria finishes a 3-minute setup: TIN, RDO, tax codes.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20116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72968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22402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Upload 2307s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Her withholding certificates land in the dashboard.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7216" y="20116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85816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22402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Returns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All 8 returns run in sequence: Blocked → Pending → Generated → Filed.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4" y="20116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98664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98664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01584" y="22402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File &amp; Anchor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A Stellar TX ID and scannable QR appear on the receipt.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82912" y="2011680"/>
            <a:ext cx="201168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11512" y="2240280"/>
            <a:ext cx="411480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11512" y="228600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F Pro Display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14432" y="224028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1512" y="2697480"/>
            <a:ext cx="1554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A loan officer scans it — compliance confirmed in ~30 seconds.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572000"/>
            <a:ext cx="10725912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663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5464D"/>
                </a:solidFill>
                <a:latin typeface="SF Pro Display"/>
              </a:defRPr>
            </a:pPr>
            <a:r>
              <a:t>[Demo screen recording placeholder — ~60–90s video: onboarding → upload 2307 → returns compute → file one → QR / verification]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1"/>
                </a:solidFill>
                <a:latin typeface="SF Pro Display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C30"/>
                </a:solidFill>
                <a:latin typeface="SF Pro Display"/>
              </a:defRPr>
            </a:pPr>
            <a:r>
              <a:t>One app. One engine. One immutable receipt.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943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C30"/>
                </a:solidFill>
                <a:latin typeface="SF Pro Display"/>
              </a:defRPr>
            </a:pPr>
            <a:r>
              <a:t>Upload income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2140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5464D"/>
                </a:solidFill>
                <a:latin typeface="SF Pro Display"/>
              </a:defRPr>
            </a:pPr>
            <a:r>
              <a:t>Form 2307 certificates trigger a full-year recascade.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8716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SF Pro Display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5943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072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C30"/>
                </a:solidFill>
                <a:latin typeface="SF Pro Display"/>
              </a:defRPr>
            </a:pPr>
            <a:r>
              <a:t>Pure computation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152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5464D"/>
                </a:solidFill>
                <a:latin typeface="SF Pro Display"/>
              </a:defRPr>
            </a:pPr>
            <a:r>
              <a:t>Every return, in order, with RA 11976 penalties and holiday deadlines.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472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SF Pro Display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5943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6732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C30"/>
                </a:solidFill>
                <a:latin typeface="SF Pro Display"/>
              </a:defRPr>
            </a:pPr>
            <a:r>
              <a:t>Generate BIR 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5464D"/>
                </a:solidFill>
                <a:latin typeface="SF Pro Display"/>
              </a:defRPr>
            </a:pPr>
            <a:r>
              <a:t>Official-form PDFs plus SAWT and cover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4074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SF Pro Display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59436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274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B1C30"/>
                </a:solidFill>
                <a:latin typeface="SF Pro Display"/>
              </a:defRPr>
            </a:pPr>
            <a:r>
              <a:t>Anchor hash on Stellar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0176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5464D"/>
                </a:solidFill>
                <a:latin typeface="SF Pro Display"/>
              </a:defRPr>
            </a:pPr>
            <a:r>
              <a:t>A SHA-256 fingerprint is stored as a manageData operation per return.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82880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800">
                <a:solidFill>
                  <a:srgbClr val="0B1C30"/>
                </a:solidFill>
                <a:latin typeface="SF Pro Text"/>
              </a:defRPr>
            </a:pPr>
            <a:r>
              <a:t>Money is never floating-point — all math runs through decimal.js, so a peso is always a peso.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0B1C30"/>
                </a:solidFill>
                <a:latin typeface="SF Pro Text"/>
              </a:defRPr>
            </a:pPr>
            <a:r>
              <a:t>Append-only audit trail — elections, filings, retries, and dispositions are logged forever.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0B1C30"/>
                </a:solidFill>
                <a:latin typeface="SF Pro Text"/>
              </a:defRPr>
            </a:pPr>
            <a:r>
              <a:t>Failure is graceful — if anchoring hiccups, the filing still succeeds and retries later.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1"/>
                </a:solidFill>
                <a:latin typeface="SF Pro Display"/>
              </a:defRPr>
            </a:pPr>
            <a:r>
              <a:t>IMPACT &amp;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C30"/>
                </a:solidFill>
                <a:latin typeface="SF Pro Display"/>
              </a:defRPr>
            </a:pPr>
            <a:r>
              <a:t>Local finance, with real-world access unlocked.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Who needs this: millions of Filipino freelancers on the 8% flat rate who file manually, hire quarterly accountants, or don't file and accumulate penalties.</a:t>
            </a:r>
          </a:p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Why now: the BIR 8% regime, the Ease of Paying Taxes Act, and a growing freelance economy make a guided, correct filing path genuinely useful.</a:t>
            </a:r>
          </a:p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The trust unlock: a verifiable receipt turns a private chore into something banks, embassies, and auditors confirm in seconds.</a:t>
            </a:r>
          </a:p>
          <a:p>
            <a:pPr>
              <a:buChar char="•"/>
              <a:spcAft>
                <a:spcPts val="1600"/>
              </a:spcAft>
              <a:defRPr sz="1900">
                <a:solidFill>
                  <a:srgbClr val="0B1C30"/>
                </a:solidFill>
                <a:latin typeface="SF Pro Text"/>
              </a:defRPr>
            </a:pPr>
            <a:r>
              <a:t>Built for the track: local finance first, with real-world access via the Stellar-anchored receipt.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8288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9385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  <a:latin typeface="SF Pro Display"/>
              </a:defRPr>
            </a:pPr>
            <a:r>
              <a:t>8 →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4871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Returns turned into one 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33101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  <a:latin typeface="SF Pro Display"/>
              </a:defRPr>
            </a:pPr>
            <a:r>
              <a:t>~30s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858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Third-party compliance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572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46817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D9488"/>
                </a:solidFill>
                <a:latin typeface="SF Pro Display"/>
              </a:defRPr>
            </a:pPr>
            <a:r>
              <a:t>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52303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Tamper-evident audit trail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6A61"/>
                </a:solidFill>
                <a:latin typeface="SF Pro Display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B1C30"/>
                </a:solidFill>
                <a:latin typeface="SF Pro Display"/>
              </a:defRPr>
            </a:pPr>
            <a:r>
              <a:t>Honest gaps that form the roadmap.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Graduated-rate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8% is the finished demo; graduated bracket math exists but the end-to-end flow isn't 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A61"/>
                </a:solidFill>
                <a:latin typeface="SF Pro Display"/>
              </a:defRPr>
            </a:pPr>
            <a:r>
              <a:t>IN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8288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574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Mixed-income → Form 1701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6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Routing and the 1701 PDF template exist; the full annual-return flow is the next mile.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A61"/>
                </a:solidFill>
                <a:latin typeface="SF Pro Display"/>
              </a:defRPr>
            </a:pPr>
            <a:r>
              <a:t>IN PROGRESS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828800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05740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VAT-threshold enforcement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25146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Warning at ₱3M exists; the hard 'register for VAT' block is next.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057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A61"/>
                </a:solidFill>
                <a:latin typeface="SF Pro Display"/>
              </a:defRPr>
            </a:pPr>
            <a:r>
              <a:t>IN PROGRESS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39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7763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Self-serve registration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Accounts are admin-seeded today; a public sign-up flow is needed for real adoption.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5464D"/>
                </a:solidFill>
                <a:latin typeface="SF Pro Display"/>
              </a:defRPr>
            </a:pPr>
            <a:r>
              <a:t>FUTURE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49039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97763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OCR for Form 2307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4348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Auto-read the certificate with a phone camera instead of typing figures.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5464D"/>
                </a:solidFill>
                <a:latin typeface="SF Pro Display"/>
              </a:defRPr>
            </a:pPr>
            <a:r>
              <a:t>FUTURE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749039"/>
            <a:ext cx="32461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977639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1C30"/>
                </a:solidFill>
                <a:latin typeface="SF Pro Display"/>
              </a:defRPr>
            </a:pPr>
            <a:r>
              <a:t>Mainnet + public verifier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443484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Move off testnet and give third parties a one-link verification page.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39776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5464D"/>
                </a:solidFill>
                <a:latin typeface="SF Pro Display"/>
              </a:defRPr>
            </a:pPr>
            <a:r>
              <a:t>FUTURE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9144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01168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B1C30"/>
                </a:solidFill>
                <a:latin typeface="SF Pro Display"/>
              </a:defRPr>
            </a:pPr>
            <a:r>
              <a:t>Thank you.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5464D"/>
                </a:solidFill>
                <a:latin typeface="SF Pro Display"/>
              </a:defRPr>
            </a:pPr>
            <a:r>
              <a:t>Eight returns. One upload. Handled.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34747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429000" y="3703320"/>
            <a:ext cx="640080" cy="640080"/>
          </a:xfrm>
          <a:prstGeom prst="ellipse">
            <a:avLst/>
          </a:prstGeom>
          <a:solidFill>
            <a:srgbClr val="E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C30"/>
                </a:solidFill>
                <a:latin typeface="SF Pro Display"/>
              </a:defRPr>
            </a:pPr>
            <a:r>
              <a:t>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[Role]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4747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23560" y="3703320"/>
            <a:ext cx="640080" cy="640080"/>
          </a:xfrm>
          <a:prstGeom prst="ellipse">
            <a:avLst/>
          </a:prstGeom>
          <a:solidFill>
            <a:srgbClr val="E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C30"/>
                </a:solidFill>
                <a:latin typeface="SF Pro Display"/>
              </a:defRPr>
            </a:pPr>
            <a:r>
              <a:t>[Name]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[Role]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34747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18120" y="3703320"/>
            <a:ext cx="640080" cy="640080"/>
          </a:xfrm>
          <a:prstGeom prst="ellipse">
            <a:avLst/>
          </a:prstGeom>
          <a:solidFill>
            <a:srgbClr val="E5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B1C30"/>
                </a:solidFill>
                <a:latin typeface="SF Pro Display"/>
              </a:defRPr>
            </a:pPr>
            <a:r>
              <a:t>[Name]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47548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[Role]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57784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6A61"/>
                </a:solidFill>
                <a:latin typeface="SF Pro Display"/>
              </a:defRPr>
            </a:pPr>
            <a:r>
              <a:t>app.krunchr.xyz    ·    krunchr.xyz    ·    krunchr@artisam.xyz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355080"/>
            <a:ext cx="11091672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-colored-pp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320040" cy="320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C30"/>
                </a:solidFill>
                <a:latin typeface="SF Pro Display"/>
              </a:defRPr>
            </a:pPr>
            <a:r>
              <a:t>Krunchr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45464D"/>
                </a:solidFill>
                <a:latin typeface="SF Pro Display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